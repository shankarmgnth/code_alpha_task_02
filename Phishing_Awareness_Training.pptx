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51" d="100"/>
          <a:sy n="51" d="100"/>
        </p:scale>
        <p:origin x="869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788343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645920"/>
            <a:ext cx="4572000" cy="4572000"/>
          </a:xfrm>
          <a:prstGeom prst="ellipse">
            <a:avLst/>
          </a:prstGeom>
          <a:solidFill>
            <a:srgbClr val="3A506B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4754880"/>
            <a:ext cx="3657600" cy="3657600"/>
          </a:xfrm>
          <a:prstGeom prst="ellipse">
            <a:avLst/>
          </a:prstGeom>
          <a:solidFill>
            <a:srgbClr val="E63946">
              <a:alpha val="2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413248" y="1234440"/>
            <a:ext cx="1371600" cy="1371600"/>
          </a:xfrm>
          <a:prstGeom prst="ellipse">
            <a:avLst/>
          </a:prstGeom>
          <a:solidFill>
            <a:srgbClr val="24344A"/>
          </a:solidFill>
          <a:ln/>
        </p:spPr>
      </p:sp>
      <p:pic>
        <p:nvPicPr>
          <p:cNvPr id="6" name="Image 0" descr="icons/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432" y="1563624"/>
            <a:ext cx="713232" cy="7132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880360"/>
            <a:ext cx="1072591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PHISHING AWARENESS TRAINING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794760"/>
            <a:ext cx="107259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the bait. Resist the click. Report the threat.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5943600"/>
            <a:ext cx="10725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Awareness Program  •  Module 1 of 1</a:t>
            </a:r>
            <a:endParaRPr lang="en-US" sz="1200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9515AB8-055A-D25F-3AEF-1655949340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277304"/>
              </p:ext>
            </p:extLst>
          </p:nvPr>
        </p:nvGraphicFramePr>
        <p:xfrm>
          <a:off x="6784848" y="4953638"/>
          <a:ext cx="4528862" cy="6699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28862">
                  <a:extLst>
                    <a:ext uri="{9D8B030D-6E8A-4147-A177-3AD203B41FA5}">
                      <a16:colId xmlns:a16="http://schemas.microsoft.com/office/drawing/2014/main" val="1168152144"/>
                    </a:ext>
                  </a:extLst>
                </a:gridCol>
              </a:tblGrid>
              <a:tr h="669922">
                <a:tc>
                  <a:txBody>
                    <a:bodyPr/>
                    <a:lstStyle/>
                    <a:p>
                      <a:r>
                        <a:rPr lang="en-US" dirty="0"/>
                        <a:t>Presented by </a:t>
                      </a:r>
                      <a:r>
                        <a:rPr lang="en-US"/>
                        <a:t>: Shankar P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982734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Phishing?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6675120" cy="4480560"/>
          </a:xfrm>
          <a:prstGeom prst="roundRect">
            <a:avLst>
              <a:gd name="adj" fmla="val 2449"/>
            </a:avLst>
          </a:prstGeom>
          <a:solidFill>
            <a:srgbClr val="F7F7F5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645920"/>
            <a:ext cx="6217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 cyberattack where criminals impersonate a trusted source — a bank, coworker, or well-known brand — to trick you into: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68680" y="2953512"/>
            <a:ext cx="109728" cy="109728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43000" y="280720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Revealing passwords or personal data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868680" y="3410712"/>
            <a:ext cx="109728" cy="109728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43000" y="326440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Clicking malicious links or attachments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68680" y="3867912"/>
            <a:ext cx="109728" cy="109728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43000" y="372160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Sending money or gift cards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68680" y="4325112"/>
            <a:ext cx="109728" cy="109728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43000" y="417880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Installing malware on a device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4892040"/>
            <a:ext cx="6217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3A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the #1 way attackers get their first foothold — no hacking required, just a convincing lie.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498080" y="1371600"/>
            <a:ext cx="4114800" cy="4480560"/>
          </a:xfrm>
          <a:prstGeom prst="roundRect">
            <a:avLst>
              <a:gd name="adj" fmla="val 2667"/>
            </a:avLst>
          </a:prstGeom>
          <a:solidFill>
            <a:srgbClr val="1B2A41"/>
          </a:solidFill>
          <a:ln/>
        </p:spPr>
      </p:sp>
      <p:sp>
        <p:nvSpPr>
          <p:cNvPr id="15" name="Shape 13"/>
          <p:cNvSpPr/>
          <p:nvPr/>
        </p:nvSpPr>
        <p:spPr>
          <a:xfrm>
            <a:off x="9098280" y="1783080"/>
            <a:ext cx="914400" cy="914400"/>
          </a:xfrm>
          <a:prstGeom prst="ellipse">
            <a:avLst/>
          </a:prstGeom>
          <a:solidFill>
            <a:srgbClr val="24344A"/>
          </a:solidFill>
          <a:ln/>
        </p:spPr>
      </p:sp>
      <p:pic>
        <p:nvPicPr>
          <p:cNvPr id="16" name="Image 0" descr="icons/m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7736" y="2002536"/>
            <a:ext cx="475488" cy="47548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498080" y="278892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91%</a:t>
            </a:r>
            <a:endParaRPr lang="en-US" sz="5400" dirty="0"/>
          </a:p>
        </p:txBody>
      </p:sp>
      <p:sp>
        <p:nvSpPr>
          <p:cNvPr id="18" name="Text 15"/>
          <p:cNvSpPr txBox="1"/>
          <p:nvPr/>
        </p:nvSpPr>
        <p:spPr>
          <a:xfrm>
            <a:off x="7818120" y="370332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cyberattacks start with a phishing email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18120" y="52120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industry phishing threat reports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 Awareness Training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 of Phishing Attacks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Attackers adapt the channel — the trick stays the same.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F7F7F5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2880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icons/m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886" y="19714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801368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Email Phishing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46888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fake emails from 'banks' or brands, sent to thousands hoping a few click.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70832" y="160020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F7F7F5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99432" y="182880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icons/targ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2078" y="19714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30952" y="1801368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 Phishing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599432" y="246888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targeted email crafted using details about YOU — your name, role, or projects.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93024" y="160020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F7F7F5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421624" y="182880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icons/crow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64270" y="19714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53144" y="1801368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Whaling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8421624" y="246888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 phishing aimed at executives — fake 'urgent' requests from the CEO/CFO.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48640" y="397764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F7F7F5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77240" y="420624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1" name="Image 3" descr="icons/mess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886" y="4348886"/>
            <a:ext cx="309067" cy="30906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178808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Smishing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777240" y="484632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 via SMS text — fake delivery alerts or bank fraud warnings.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370832" y="397764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F7F7F5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599432" y="420624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6" name="Image 4" descr="icons/phon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42078" y="4348886"/>
            <a:ext cx="309067" cy="309067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330952" y="4178808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Vishing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4599432" y="484632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phishing — a scam phone call impersonating IT support or a bank agent.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8193024" y="397764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F7F7F5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421624" y="420624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1" name="Image 5" descr="icons/cop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64270" y="4348886"/>
            <a:ext cx="309067" cy="309067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153144" y="4178808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Clone Phishing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8421624" y="484632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email you received is copied and resent with a malicious link swapped in.</a:t>
            </a:r>
            <a:endParaRPr lang="en-US" sz="1150" dirty="0"/>
          </a:p>
        </p:txBody>
      </p:sp>
      <p:sp>
        <p:nvSpPr>
          <p:cNvPr id="34" name="Text 2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 Awareness Training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Spotting a Phishing Email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03504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9050">
            <a:solidFill>
              <a:srgbClr val="D8DC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463040"/>
            <a:ext cx="6035040" cy="502920"/>
          </a:xfrm>
          <a:prstGeom prst="rect">
            <a:avLst/>
          </a:prstGeom>
          <a:solidFill>
            <a:srgbClr val="EDEFF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517904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Message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48840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From: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14884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IT-Support@secure-mail-verify.com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514600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To: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251460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you@yourcompany.com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880360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Subject: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28803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URGENT: Your Account Will Be Suspended in 24 Hours!!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" y="3291840"/>
            <a:ext cx="5669280" cy="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429000"/>
            <a:ext cx="56692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Dear Customer,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detected unusual activity. Click below immediately to verify your identity or your account will be permanently locked.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Verify My Account Now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you,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Team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544068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639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hxxp://secure-mail-verify-login.ru/reset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576072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hovering the button reveals this real link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903720" y="1481328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39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 FLAGS TO CHECK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903720" y="1965960"/>
            <a:ext cx="384048" cy="384048"/>
          </a:xfrm>
          <a:prstGeom prst="ellipse">
            <a:avLst/>
          </a:prstGeom>
          <a:solidFill>
            <a:srgbClr val="FCE8E9"/>
          </a:solidFill>
          <a:ln/>
        </p:spPr>
      </p:sp>
      <p:pic>
        <p:nvPicPr>
          <p:cNvPr id="18" name="Image 0" descr="icons/al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892" y="2058132"/>
            <a:ext cx="199705" cy="199705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7434072" y="1947672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 domain looks close, but wrong (secure-mail-verify.com)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903720" y="2651760"/>
            <a:ext cx="384048" cy="384048"/>
          </a:xfrm>
          <a:prstGeom prst="ellipse">
            <a:avLst/>
          </a:prstGeom>
          <a:solidFill>
            <a:srgbClr val="FCE8E9"/>
          </a:solidFill>
          <a:ln/>
        </p:spPr>
      </p:sp>
      <p:pic>
        <p:nvPicPr>
          <p:cNvPr id="21" name="Image 1" descr="icons/al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892" y="2743932"/>
            <a:ext cx="199705" cy="199705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7434072" y="2633472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Urgent, scary language pressuring quick action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6903720" y="3337560"/>
            <a:ext cx="384048" cy="384048"/>
          </a:xfrm>
          <a:prstGeom prst="ellipse">
            <a:avLst/>
          </a:prstGeom>
          <a:solidFill>
            <a:srgbClr val="FCE8E9"/>
          </a:solidFill>
          <a:ln/>
        </p:spPr>
      </p:sp>
      <p:pic>
        <p:nvPicPr>
          <p:cNvPr id="24" name="Image 2" descr="icons/al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892" y="3429732"/>
            <a:ext cx="199705" cy="199705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434072" y="3319272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greeting (“Dear Customer”, not your name)</a:t>
            </a:r>
            <a:endParaRPr lang="en-US" sz="1250" dirty="0"/>
          </a:p>
        </p:txBody>
      </p:sp>
      <p:sp>
        <p:nvSpPr>
          <p:cNvPr id="26" name="Shape 21"/>
          <p:cNvSpPr/>
          <p:nvPr/>
        </p:nvSpPr>
        <p:spPr>
          <a:xfrm>
            <a:off x="6903720" y="4023360"/>
            <a:ext cx="384048" cy="384048"/>
          </a:xfrm>
          <a:prstGeom prst="ellipse">
            <a:avLst/>
          </a:prstGeom>
          <a:solidFill>
            <a:srgbClr val="FCE8E9"/>
          </a:solidFill>
          <a:ln/>
        </p:spPr>
      </p:sp>
      <p:pic>
        <p:nvPicPr>
          <p:cNvPr id="27" name="Image 3" descr="icons/al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892" y="4115532"/>
            <a:ext cx="199705" cy="199705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434072" y="4005072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text hides a suspicious destination URL</a:t>
            </a:r>
            <a:endParaRPr lang="en-US" sz="1250" dirty="0"/>
          </a:p>
        </p:txBody>
      </p:sp>
      <p:sp>
        <p:nvSpPr>
          <p:cNvPr id="29" name="Shape 23"/>
          <p:cNvSpPr/>
          <p:nvPr/>
        </p:nvSpPr>
        <p:spPr>
          <a:xfrm>
            <a:off x="6903720" y="4709160"/>
            <a:ext cx="384048" cy="384048"/>
          </a:xfrm>
          <a:prstGeom prst="ellipse">
            <a:avLst/>
          </a:prstGeom>
          <a:solidFill>
            <a:srgbClr val="FCE8E9"/>
          </a:solidFill>
          <a:ln/>
        </p:spPr>
      </p:sp>
      <p:pic>
        <p:nvPicPr>
          <p:cNvPr id="30" name="Image 4" descr="icons/al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892" y="4801332"/>
            <a:ext cx="199705" cy="199705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7434072" y="4690872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grammar, odd spacing, or excessive punctuation</a:t>
            </a:r>
            <a:endParaRPr lang="en-US" sz="1250" dirty="0"/>
          </a:p>
        </p:txBody>
      </p:sp>
      <p:sp>
        <p:nvSpPr>
          <p:cNvPr id="32" name="Shape 25"/>
          <p:cNvSpPr/>
          <p:nvPr/>
        </p:nvSpPr>
        <p:spPr>
          <a:xfrm>
            <a:off x="6903720" y="5394960"/>
            <a:ext cx="384048" cy="384048"/>
          </a:xfrm>
          <a:prstGeom prst="ellipse">
            <a:avLst/>
          </a:prstGeom>
          <a:solidFill>
            <a:srgbClr val="FCE8E9"/>
          </a:solidFill>
          <a:ln/>
        </p:spPr>
      </p:sp>
      <p:pic>
        <p:nvPicPr>
          <p:cNvPr id="33" name="Image 5" descr="icons/al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892" y="5487132"/>
            <a:ext cx="199705" cy="199705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7434072" y="5376672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Unexpected request to click, log in, or pay</a:t>
            </a:r>
            <a:endParaRPr lang="en-US" sz="1250" dirty="0"/>
          </a:p>
        </p:txBody>
      </p:sp>
      <p:sp>
        <p:nvSpPr>
          <p:cNvPr id="35" name="Text 2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 Awareness Training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Spotting a Fake Website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035040" cy="502920"/>
          </a:xfrm>
          <a:prstGeom prst="roundRect">
            <a:avLst>
              <a:gd name="adj" fmla="val 14545"/>
            </a:avLst>
          </a:prstGeom>
          <a:solidFill>
            <a:srgbClr val="F7F7F5"/>
          </a:solidFill>
          <a:ln w="15240">
            <a:solidFill>
              <a:srgbClr val="D8DC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13232" y="1636776"/>
            <a:ext cx="146304" cy="146304"/>
          </a:xfrm>
          <a:prstGeom prst="ellipse">
            <a:avLst/>
          </a:prstGeom>
          <a:solidFill>
            <a:srgbClr val="C9CDD3"/>
          </a:solidFill>
          <a:ln/>
        </p:spPr>
      </p:sp>
      <p:sp>
        <p:nvSpPr>
          <p:cNvPr id="5" name="Shape 3"/>
          <p:cNvSpPr/>
          <p:nvPr/>
        </p:nvSpPr>
        <p:spPr>
          <a:xfrm>
            <a:off x="932688" y="1636776"/>
            <a:ext cx="146304" cy="146304"/>
          </a:xfrm>
          <a:prstGeom prst="ellipse">
            <a:avLst/>
          </a:prstGeom>
          <a:solidFill>
            <a:srgbClr val="C9CDD3"/>
          </a:solidFill>
          <a:ln/>
        </p:spPr>
      </p:sp>
      <p:sp>
        <p:nvSpPr>
          <p:cNvPr id="6" name="Shape 4"/>
          <p:cNvSpPr/>
          <p:nvPr/>
        </p:nvSpPr>
        <p:spPr>
          <a:xfrm>
            <a:off x="1152144" y="1636776"/>
            <a:ext cx="146304" cy="146304"/>
          </a:xfrm>
          <a:prstGeom prst="ellipse">
            <a:avLst/>
          </a:prstGeom>
          <a:solidFill>
            <a:srgbClr val="C9CDD3"/>
          </a:solidFill>
          <a:ln/>
        </p:spPr>
      </p:sp>
      <p:sp>
        <p:nvSpPr>
          <p:cNvPr id="7" name="Shape 5"/>
          <p:cNvSpPr/>
          <p:nvPr/>
        </p:nvSpPr>
        <p:spPr>
          <a:xfrm>
            <a:off x="1371600" y="1554480"/>
            <a:ext cx="502920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63040" y="15544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639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http://yourbank-secure-login.info/account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057400"/>
            <a:ext cx="6035040" cy="3703320"/>
          </a:xfrm>
          <a:prstGeom prst="roundRect">
            <a:avLst>
              <a:gd name="adj" fmla="val 1975"/>
            </a:avLst>
          </a:prstGeom>
          <a:solidFill>
            <a:srgbClr val="FFFFFF"/>
          </a:solidFill>
          <a:ln w="15240">
            <a:solidFill>
              <a:srgbClr val="D8DCE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3774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BANK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8803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to Online Banking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463040" y="3429000"/>
            <a:ext cx="4206240" cy="384048"/>
          </a:xfrm>
          <a:prstGeom prst="roundRect">
            <a:avLst>
              <a:gd name="adj" fmla="val 14286"/>
            </a:avLst>
          </a:prstGeom>
          <a:solidFill>
            <a:srgbClr val="F7F7F5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600200" y="342900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3A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Username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1463040" y="3977640"/>
            <a:ext cx="4206240" cy="384048"/>
          </a:xfrm>
          <a:prstGeom prst="roundRect">
            <a:avLst>
              <a:gd name="adj" fmla="val 14286"/>
            </a:avLst>
          </a:prstGeom>
          <a:solidFill>
            <a:srgbClr val="F7F7F5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600200" y="397764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3A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463040" y="4526280"/>
            <a:ext cx="4206240" cy="411480"/>
          </a:xfrm>
          <a:prstGeom prst="roundRect">
            <a:avLst>
              <a:gd name="adj" fmla="val 13333"/>
            </a:avLst>
          </a:prstGeom>
          <a:solidFill>
            <a:srgbClr val="E6394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463040" y="452628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512064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padlock icon · misspelled brand · unfamiliar domain ending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903720" y="1481328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39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BEFORE YOU TRUST A SITE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903720" y="1965960"/>
            <a:ext cx="384048" cy="384048"/>
          </a:xfrm>
          <a:prstGeom prst="ellipse">
            <a:avLst/>
          </a:prstGeom>
          <a:solidFill>
            <a:srgbClr val="FCE8E9"/>
          </a:solidFill>
          <a:ln/>
        </p:spPr>
      </p:sp>
      <p:pic>
        <p:nvPicPr>
          <p:cNvPr id="21" name="Image 0" descr="icons/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892" y="2058132"/>
            <a:ext cx="199705" cy="19970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7434072" y="1947672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doesn't match the real company domain exactly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6903720" y="2651760"/>
            <a:ext cx="384048" cy="384048"/>
          </a:xfrm>
          <a:prstGeom prst="ellipse">
            <a:avLst/>
          </a:prstGeom>
          <a:solidFill>
            <a:srgbClr val="FCE8E9"/>
          </a:solidFill>
          <a:ln/>
        </p:spPr>
      </p:sp>
      <p:pic>
        <p:nvPicPr>
          <p:cNvPr id="24" name="Image 1" descr="icons/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892" y="2743932"/>
            <a:ext cx="199705" cy="199705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7434072" y="2633472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padlock icon, or browser shows “Not Secure”</a:t>
            </a:r>
            <a:endParaRPr lang="en-US" sz="1250" dirty="0"/>
          </a:p>
        </p:txBody>
      </p:sp>
      <p:sp>
        <p:nvSpPr>
          <p:cNvPr id="26" name="Shape 22"/>
          <p:cNvSpPr/>
          <p:nvPr/>
        </p:nvSpPr>
        <p:spPr>
          <a:xfrm>
            <a:off x="6903720" y="3337560"/>
            <a:ext cx="384048" cy="384048"/>
          </a:xfrm>
          <a:prstGeom prst="ellipse">
            <a:avLst/>
          </a:prstGeom>
          <a:solidFill>
            <a:srgbClr val="FCE8E9"/>
          </a:solidFill>
          <a:ln/>
        </p:spPr>
      </p:sp>
      <p:pic>
        <p:nvPicPr>
          <p:cNvPr id="27" name="Image 2" descr="icons/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892" y="3429732"/>
            <a:ext cx="199705" cy="199705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7434072" y="3319272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Strange domain ending (.info, .xyz, .ru, etc.)</a:t>
            </a:r>
            <a:endParaRPr lang="en-US" sz="1250" dirty="0"/>
          </a:p>
        </p:txBody>
      </p:sp>
      <p:sp>
        <p:nvSpPr>
          <p:cNvPr id="29" name="Shape 24"/>
          <p:cNvSpPr/>
          <p:nvPr/>
        </p:nvSpPr>
        <p:spPr>
          <a:xfrm>
            <a:off x="6903720" y="4023360"/>
            <a:ext cx="384048" cy="384048"/>
          </a:xfrm>
          <a:prstGeom prst="ellipse">
            <a:avLst/>
          </a:prstGeom>
          <a:solidFill>
            <a:srgbClr val="FCE8E9"/>
          </a:solidFill>
          <a:ln/>
        </p:spPr>
      </p:sp>
      <p:pic>
        <p:nvPicPr>
          <p:cNvPr id="30" name="Image 3" descr="icons/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892" y="4115532"/>
            <a:ext cx="199705" cy="199705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7434072" y="4005072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asks for more info than usual (SSN, full card #)</a:t>
            </a:r>
            <a:endParaRPr lang="en-US" sz="1250" dirty="0"/>
          </a:p>
        </p:txBody>
      </p:sp>
      <p:sp>
        <p:nvSpPr>
          <p:cNvPr id="32" name="Shape 26"/>
          <p:cNvSpPr/>
          <p:nvPr/>
        </p:nvSpPr>
        <p:spPr>
          <a:xfrm>
            <a:off x="6903720" y="4709160"/>
            <a:ext cx="384048" cy="384048"/>
          </a:xfrm>
          <a:prstGeom prst="ellipse">
            <a:avLst/>
          </a:prstGeom>
          <a:solidFill>
            <a:srgbClr val="FCE8E9"/>
          </a:solidFill>
          <a:ln/>
        </p:spPr>
      </p:sp>
      <p:pic>
        <p:nvPicPr>
          <p:cNvPr id="33" name="Image 4" descr="icons/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892" y="4801332"/>
            <a:ext cx="199705" cy="199705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7434072" y="4690872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looks slightly off — low-res logo, odd fonts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6903720" y="5394960"/>
            <a:ext cx="384048" cy="384048"/>
          </a:xfrm>
          <a:prstGeom prst="ellipse">
            <a:avLst/>
          </a:prstGeom>
          <a:solidFill>
            <a:srgbClr val="FCE8E9"/>
          </a:solidFill>
          <a:ln/>
        </p:spPr>
      </p:sp>
      <p:pic>
        <p:nvPicPr>
          <p:cNvPr id="36" name="Image 5" descr="icons/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892" y="5487132"/>
            <a:ext cx="199705" cy="199705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7434072" y="5376672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arrived via a link, not by typing the address yourself</a:t>
            </a:r>
            <a:endParaRPr lang="en-US" sz="1250" dirty="0"/>
          </a:p>
        </p:txBody>
      </p:sp>
      <p:sp>
        <p:nvSpPr>
          <p:cNvPr id="38" name="Text 30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 Awareness Training</a:t>
            </a:r>
            <a:endParaRPr lang="en-US" sz="900" dirty="0"/>
          </a:p>
        </p:txBody>
      </p:sp>
      <p:sp>
        <p:nvSpPr>
          <p:cNvPr id="39" name="Text 31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Social Engineering Tactics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 exploits psychology, not just technology.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F7F7F5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2880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icons/c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886" y="19714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801368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Urgency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46888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“Act within 24 hours or your account is locked.” Panic short-circuits careful thinking.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70832" y="160020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F7F7F5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99432" y="182880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icons/cr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2078" y="19714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30952" y="1801368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Authority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599432" y="246888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Impersonating a CEO, IT admin, or the police to make you obey without question.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93024" y="160020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F7F7F5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421624" y="182880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icons/ale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64270" y="19714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53144" y="1801368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Fear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8421624" y="246888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Threats of fines, legal trouble, or job loss push you to react before you verify.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48640" y="397764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F7F7F5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77240" y="420624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1" name="Image 3" descr="icons/ey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886" y="4348886"/>
            <a:ext cx="309067" cy="30906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178808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Curiosity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777240" y="484632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“See who viewed your profile” or a mystery invoice — bait to make you click.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370832" y="397764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F7F7F5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599432" y="420624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6" name="Image 4" descr="icons/user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42078" y="4348886"/>
            <a:ext cx="309067" cy="309067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330952" y="4178808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 / Familiarity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4599432" y="484632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Spoofing a real coworker or vendor's name and writing style.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8193024" y="397764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F7F7F5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421624" y="420624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1" name="Image 5" descr="icons/shiel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64270" y="4348886"/>
            <a:ext cx="309067" cy="309067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153144" y="4178808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Reward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8421624" y="484632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prizes, refunds, or gift cards offered in exchange for 'quick verification'.</a:t>
            </a:r>
            <a:endParaRPr lang="en-US" sz="1150" dirty="0"/>
          </a:p>
        </p:txBody>
      </p:sp>
      <p:sp>
        <p:nvSpPr>
          <p:cNvPr id="34" name="Text 2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 Awareness Training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Best Practices &amp; Tips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40680" cy="4709160"/>
          </a:xfrm>
          <a:prstGeom prst="roundRect">
            <a:avLst>
              <a:gd name="adj" fmla="val 1942"/>
            </a:avLst>
          </a:prstGeom>
          <a:solidFill>
            <a:srgbClr val="EAF6F3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169164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381" y="1812341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69164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868680" y="2496312"/>
            <a:ext cx="91440" cy="914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97280" y="2331720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the sender's exact email address, not just the display name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868680" y="3063240"/>
            <a:ext cx="91440" cy="914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097280" y="2898648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Hover over links to preview the real URL before clicking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68680" y="3630168"/>
            <a:ext cx="91440" cy="914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097280" y="3465576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important sites' addresses directly into the browser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868680" y="4197096"/>
            <a:ext cx="91440" cy="914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097280" y="4032504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the company via a known, official number to confirm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868680" y="4764024"/>
            <a:ext cx="91440" cy="914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097280" y="4599432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multi-factor authentication (MFA) everywhere possible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868680" y="5330952"/>
            <a:ext cx="91440" cy="914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097280" y="5166360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suspicious emails to IT / Security immediately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99632" y="1417320"/>
            <a:ext cx="5440680" cy="4709160"/>
          </a:xfrm>
          <a:prstGeom prst="roundRect">
            <a:avLst>
              <a:gd name="adj" fmla="val 1942"/>
            </a:avLst>
          </a:prstGeom>
          <a:solidFill>
            <a:srgbClr val="FCEBEC"/>
          </a:solidFill>
          <a:ln/>
        </p:spPr>
      </p:sp>
      <p:sp>
        <p:nvSpPr>
          <p:cNvPr id="20" name="Shape 17"/>
          <p:cNvSpPr/>
          <p:nvPr/>
        </p:nvSpPr>
        <p:spPr>
          <a:xfrm>
            <a:off x="6519672" y="169164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1" name="Image 1" descr="icons/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0373" y="1812341"/>
            <a:ext cx="261518" cy="261518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7159752" y="16916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639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DON'T</a:t>
            </a:r>
            <a:endParaRPr lang="en-US" sz="2000" dirty="0"/>
          </a:p>
        </p:txBody>
      </p:sp>
      <p:sp>
        <p:nvSpPr>
          <p:cNvPr id="23" name="Shape 19"/>
          <p:cNvSpPr/>
          <p:nvPr/>
        </p:nvSpPr>
        <p:spPr>
          <a:xfrm>
            <a:off x="6519672" y="2496312"/>
            <a:ext cx="91440" cy="914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6748272" y="2331720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links or open attachments from unexpected emails</a:t>
            </a:r>
            <a:endParaRPr lang="en-US" sz="1250" dirty="0"/>
          </a:p>
        </p:txBody>
      </p:sp>
      <p:sp>
        <p:nvSpPr>
          <p:cNvPr id="25" name="Shape 21"/>
          <p:cNvSpPr/>
          <p:nvPr/>
        </p:nvSpPr>
        <p:spPr>
          <a:xfrm>
            <a:off x="6519672" y="3063240"/>
            <a:ext cx="91440" cy="914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6748272" y="2898648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passwords or codes on a page you reached via email link</a:t>
            </a:r>
            <a:endParaRPr lang="en-US" sz="1250" dirty="0"/>
          </a:p>
        </p:txBody>
      </p:sp>
      <p:sp>
        <p:nvSpPr>
          <p:cNvPr id="27" name="Shape 23"/>
          <p:cNvSpPr/>
          <p:nvPr/>
        </p:nvSpPr>
        <p:spPr>
          <a:xfrm>
            <a:off x="6519672" y="3630168"/>
            <a:ext cx="91440" cy="914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6748272" y="3465576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urgency — real companies rarely demand instant action</a:t>
            </a:r>
            <a:endParaRPr lang="en-US" sz="1250" dirty="0"/>
          </a:p>
        </p:txBody>
      </p:sp>
      <p:sp>
        <p:nvSpPr>
          <p:cNvPr id="29" name="Shape 25"/>
          <p:cNvSpPr/>
          <p:nvPr/>
        </p:nvSpPr>
        <p:spPr>
          <a:xfrm>
            <a:off x="6519672" y="4197096"/>
            <a:ext cx="91440" cy="914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6748272" y="4032504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the same password across multiple accounts</a:t>
            </a:r>
            <a:endParaRPr lang="en-US" sz="1250" dirty="0"/>
          </a:p>
        </p:txBody>
      </p:sp>
      <p:sp>
        <p:nvSpPr>
          <p:cNvPr id="31" name="Shape 27"/>
          <p:cNvSpPr/>
          <p:nvPr/>
        </p:nvSpPr>
        <p:spPr>
          <a:xfrm>
            <a:off x="6519672" y="4764024"/>
            <a:ext cx="91440" cy="914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6748272" y="4599432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 a familiar logo or name means the email is genuine</a:t>
            </a:r>
            <a:endParaRPr lang="en-US" sz="1250" dirty="0"/>
          </a:p>
        </p:txBody>
      </p:sp>
      <p:sp>
        <p:nvSpPr>
          <p:cNvPr id="33" name="Shape 29"/>
          <p:cNvSpPr/>
          <p:nvPr/>
        </p:nvSpPr>
        <p:spPr>
          <a:xfrm>
            <a:off x="6519672" y="5330952"/>
            <a:ext cx="91440" cy="914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6748272" y="5166360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money, gift cards, or sensitive data based on email alone</a:t>
            </a:r>
            <a:endParaRPr lang="en-US" sz="1250" dirty="0"/>
          </a:p>
        </p:txBody>
      </p:sp>
      <p:sp>
        <p:nvSpPr>
          <p:cNvPr id="35" name="Text 31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 Awareness Training</a:t>
            </a:r>
            <a:endParaRPr lang="en-US" sz="900" dirty="0"/>
          </a:p>
        </p:txBody>
      </p:sp>
      <p:sp>
        <p:nvSpPr>
          <p:cNvPr id="36" name="Text 3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You Suspect Phishing...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these four steps — every time.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06040" cy="3657600"/>
          </a:xfrm>
          <a:prstGeom prst="roundRect">
            <a:avLst>
              <a:gd name="adj" fmla="val 3509"/>
            </a:avLst>
          </a:prstGeom>
          <a:solidFill>
            <a:srgbClr val="1B2A4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92024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5C75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78892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337560"/>
            <a:ext cx="22402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D7E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click, reply, download, or forward. Pause before you act.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136392" y="3291840"/>
            <a:ext cx="3840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355848" y="1691640"/>
            <a:ext cx="2606040" cy="3657600"/>
          </a:xfrm>
          <a:prstGeom prst="roundRect">
            <a:avLst>
              <a:gd name="adj" fmla="val 3509"/>
            </a:avLst>
          </a:prstGeom>
          <a:solidFill>
            <a:srgbClr val="3A506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538728" y="192024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5C75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3538728" y="278892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VERIFY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538728" y="3337560"/>
            <a:ext cx="22402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D7E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the sender through a known channel — not the one in the message.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0" y="3291840"/>
            <a:ext cx="3840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63056" y="1691640"/>
            <a:ext cx="2606040" cy="3657600"/>
          </a:xfrm>
          <a:prstGeom prst="roundRect">
            <a:avLst>
              <a:gd name="adj" fmla="val 3509"/>
            </a:avLst>
          </a:prstGeom>
          <a:solidFill>
            <a:srgbClr val="1B2A4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45936" y="192024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5C75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6345936" y="278892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6345936" y="3337560"/>
            <a:ext cx="22402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D7E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it to IT/Security or use your organization's “Report Phishing” button.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750808" y="3291840"/>
            <a:ext cx="3840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8970264" y="1691640"/>
            <a:ext cx="2606040" cy="3657600"/>
          </a:xfrm>
          <a:prstGeom prst="roundRect">
            <a:avLst>
              <a:gd name="adj" fmla="val 3509"/>
            </a:avLst>
          </a:prstGeom>
          <a:solidFill>
            <a:srgbClr val="3A506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53144" y="192024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5C75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9153144" y="278892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DELETE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9153144" y="3337560"/>
            <a:ext cx="22402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D7E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reported, delete the message. Never engage with the sender.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 Awareness Training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Quiz — Test Yourself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0332720" y="457200"/>
            <a:ext cx="685800" cy="685800"/>
          </a:xfrm>
          <a:prstGeom prst="ellipse">
            <a:avLst/>
          </a:prstGeom>
          <a:solidFill>
            <a:srgbClr val="FCE8E9"/>
          </a:solidFill>
          <a:ln/>
        </p:spPr>
      </p:sp>
      <p:pic>
        <p:nvPicPr>
          <p:cNvPr id="4" name="Image 0" descr="icons/he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7312" y="621792"/>
            <a:ext cx="356616" cy="35661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097280"/>
            <a:ext cx="9509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each question as a group before revealing the answer on the next slide.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5486400" cy="2331720"/>
          </a:xfrm>
          <a:prstGeom prst="roundRect">
            <a:avLst>
              <a:gd name="adj" fmla="val 3922"/>
            </a:avLst>
          </a:prstGeom>
          <a:solidFill>
            <a:srgbClr val="F7F7F5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1783080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E6394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1520" y="1783080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371600" y="1737360"/>
            <a:ext cx="44805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email from “Amaz0n-Support” asks you to confirm your password via a link. What do you do?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5603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Click the link right away to be safe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94436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Go to amazon.com directly and check your account there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328416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Reply asking if it's legitimate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355080" y="1600200"/>
            <a:ext cx="5486400" cy="2331720"/>
          </a:xfrm>
          <a:prstGeom prst="roundRect">
            <a:avLst>
              <a:gd name="adj" fmla="val 3922"/>
            </a:avLst>
          </a:prstGeom>
          <a:solidFill>
            <a:srgbClr val="F7F7F5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537960" y="1783080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E6394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537960" y="1783080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178040" y="1737360"/>
            <a:ext cx="44805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“CEO” emails asking you to urgently buy gift cards and send the codes. This is most likely: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629400" y="25603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 normal request — CEOs do this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629400" y="294436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Whaling / CEO fraud — verify by phone before acting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629400" y="3328416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Spam you can ignore, no action needed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4069080"/>
            <a:ext cx="5486400" cy="2331720"/>
          </a:xfrm>
          <a:prstGeom prst="roundRect">
            <a:avLst>
              <a:gd name="adj" fmla="val 3922"/>
            </a:avLst>
          </a:prstGeom>
          <a:solidFill>
            <a:srgbClr val="F7F7F5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1520" y="4251960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E63946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31520" y="4251960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371600" y="4206240"/>
            <a:ext cx="44805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website's address bar shows “yourbank-login-secure.info” instead of your bank's real domain. You should: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822960" y="50292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Enter your login — it looks close enough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822960" y="541324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Close it and type your bank's real URL yourself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822960" y="5797296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Bookmark it for later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355080" y="4069080"/>
            <a:ext cx="5486400" cy="2331720"/>
          </a:xfrm>
          <a:prstGeom prst="roundRect">
            <a:avLst>
              <a:gd name="adj" fmla="val 3922"/>
            </a:avLst>
          </a:prstGeom>
          <a:solidFill>
            <a:srgbClr val="F7F7F5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537960" y="4251960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E6394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537960" y="4251960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7178040" y="4206240"/>
            <a:ext cx="44805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receive a text (SMS) saying your package is “held” and to click a link to pay a small fee. This is an example of: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629400" y="50292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Vishing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6629400" y="541324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Smishing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6629400" y="5797296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Whaling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 Awareness Training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Quiz — Answers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2697480" cy="4023360"/>
          </a:xfrm>
          <a:prstGeom prst="roundRect">
            <a:avLst>
              <a:gd name="adj" fmla="val 3390"/>
            </a:avLst>
          </a:prstGeom>
          <a:solidFill>
            <a:srgbClr val="F7F7F5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8308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508760" y="2148840"/>
            <a:ext cx="777240" cy="777240"/>
          </a:xfrm>
          <a:prstGeom prst="ellipse">
            <a:avLst/>
          </a:prstGeom>
          <a:solidFill>
            <a:srgbClr val="EAF6F3"/>
          </a:solidFill>
          <a:ln/>
        </p:spPr>
      </p:sp>
      <p:pic>
        <p:nvPicPr>
          <p:cNvPr id="6" name="Image 0" descr="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5298" y="2335378"/>
            <a:ext cx="404165" cy="40416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306324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Answer: B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657600"/>
            <a:ext cx="2331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trust a link in the email itself — navigate to the real site independently.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447288" y="1600200"/>
            <a:ext cx="2697480" cy="4023360"/>
          </a:xfrm>
          <a:prstGeom prst="roundRect">
            <a:avLst>
              <a:gd name="adj" fmla="val 3390"/>
            </a:avLst>
          </a:prstGeom>
          <a:solidFill>
            <a:srgbClr val="F7F7F5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630168" y="178308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407408" y="2148840"/>
            <a:ext cx="777240" cy="777240"/>
          </a:xfrm>
          <a:prstGeom prst="ellipse">
            <a:avLst/>
          </a:prstGeom>
          <a:solidFill>
            <a:srgbClr val="EAF6F3"/>
          </a:solidFill>
          <a:ln/>
        </p:spPr>
      </p:sp>
      <p:pic>
        <p:nvPicPr>
          <p:cNvPr id="12" name="Image 1" descr="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3946" y="2335378"/>
            <a:ext cx="404165" cy="40416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447288" y="306324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Answer: B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3630168" y="3657600"/>
            <a:ext cx="2331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Gift-card and wire-transfer 'urgent' requests are a classic executive-impersonation scam.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345936" y="1600200"/>
            <a:ext cx="2697480" cy="4023360"/>
          </a:xfrm>
          <a:prstGeom prst="roundRect">
            <a:avLst>
              <a:gd name="adj" fmla="val 3390"/>
            </a:avLst>
          </a:prstGeom>
          <a:solidFill>
            <a:srgbClr val="F7F7F5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28816" y="178308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7306056" y="2148840"/>
            <a:ext cx="777240" cy="777240"/>
          </a:xfrm>
          <a:prstGeom prst="ellipse">
            <a:avLst/>
          </a:prstGeom>
          <a:solidFill>
            <a:srgbClr val="EAF6F3"/>
          </a:solidFill>
          <a:ln/>
        </p:spPr>
      </p:sp>
      <p:pic>
        <p:nvPicPr>
          <p:cNvPr id="18" name="Image 2" descr="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2594" y="2335378"/>
            <a:ext cx="404165" cy="40416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345936" y="306324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Answer: B</a:t>
            </a:r>
            <a:endParaRPr lang="en-US" sz="2000" dirty="0"/>
          </a:p>
        </p:txBody>
      </p:sp>
      <p:sp>
        <p:nvSpPr>
          <p:cNvPr id="20" name="Text 15"/>
          <p:cNvSpPr txBox="1"/>
          <p:nvPr/>
        </p:nvSpPr>
        <p:spPr>
          <a:xfrm>
            <a:off x="6528816" y="3657600"/>
            <a:ext cx="2331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mismatched or unusual domain is a strong sign of a spoofed website.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9244584" y="1600200"/>
            <a:ext cx="2697480" cy="4023360"/>
          </a:xfrm>
          <a:prstGeom prst="roundRect">
            <a:avLst>
              <a:gd name="adj" fmla="val 3390"/>
            </a:avLst>
          </a:prstGeom>
          <a:solidFill>
            <a:srgbClr val="F7F7F5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9427464" y="178308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10204704" y="2148840"/>
            <a:ext cx="777240" cy="777240"/>
          </a:xfrm>
          <a:prstGeom prst="ellipse">
            <a:avLst/>
          </a:prstGeom>
          <a:solidFill>
            <a:srgbClr val="EAF6F3"/>
          </a:solidFill>
          <a:ln/>
        </p:spPr>
      </p:sp>
      <p:pic>
        <p:nvPicPr>
          <p:cNvPr id="24" name="Image 3" descr="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1242" y="2335378"/>
            <a:ext cx="404165" cy="40416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244584" y="306324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Answer: B</a:t>
            </a:r>
            <a:endParaRPr lang="en-US" sz="2000" dirty="0"/>
          </a:p>
        </p:txBody>
      </p:sp>
      <p:sp>
        <p:nvSpPr>
          <p:cNvPr id="26" name="Text 20"/>
          <p:cNvSpPr txBox="1"/>
          <p:nvPr/>
        </p:nvSpPr>
        <p:spPr>
          <a:xfrm>
            <a:off x="9427464" y="3657600"/>
            <a:ext cx="2331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Smishing = phishing delivered via SMS text message.</a:t>
            </a:r>
            <a:endParaRPr lang="en-US" sz="1150" dirty="0"/>
          </a:p>
        </p:txBody>
      </p:sp>
      <p:sp>
        <p:nvSpPr>
          <p:cNvPr id="27" name="Text 21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 Awareness Training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645920"/>
            <a:ext cx="4572000" cy="4572000"/>
          </a:xfrm>
          <a:prstGeom prst="ellipse">
            <a:avLst/>
          </a:prstGeom>
          <a:solidFill>
            <a:srgbClr val="3A506B">
              <a:alpha val="3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13248" y="777240"/>
            <a:ext cx="1188720" cy="1188720"/>
          </a:xfrm>
          <a:prstGeom prst="ellipse">
            <a:avLst/>
          </a:prstGeom>
          <a:solidFill>
            <a:srgbClr val="24344A"/>
          </a:solidFill>
          <a:ln/>
        </p:spPr>
      </p:sp>
      <p:pic>
        <p:nvPicPr>
          <p:cNvPr id="4" name="Image 0" descr="icons/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8541" y="1062533"/>
            <a:ext cx="618134" cy="61813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214884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Stay Skeptical. Stay Secure.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92608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in doubt, don't click — verify through a trusted channel and report it.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4023360"/>
            <a:ext cx="9418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D7E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suspicious emails to your IT / Security team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4480560"/>
            <a:ext cx="9418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D7E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more: CISA.gov/phishing  ·  StaySafeOnline.org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1371600" y="4937760"/>
            <a:ext cx="9418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D7E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MFA on every account that supports it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585216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FB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1182</Words>
  <Application>Microsoft Office PowerPoint</Application>
  <PresentationFormat>Widescreen</PresentationFormat>
  <Paragraphs>184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Shankar P</cp:lastModifiedBy>
  <cp:revision>2</cp:revision>
  <dcterms:created xsi:type="dcterms:W3CDTF">2026-09-03T09:21:35Z</dcterms:created>
  <dcterms:modified xsi:type="dcterms:W3CDTF">2026-09-04T18:07:27Z</dcterms:modified>
</cp:coreProperties>
</file>