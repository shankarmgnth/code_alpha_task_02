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1.png"/><Relationship Id="rId3" Type="http://schemas.openxmlformats.org/officeDocument/2006/relationships/image" Target="../media/image-4-1.png"/><Relationship Id="rId4" Type="http://schemas.openxmlformats.org/officeDocument/2006/relationships/image" Target="../media/image-4-1.png"/><Relationship Id="rId5" Type="http://schemas.openxmlformats.org/officeDocument/2006/relationships/image" Target="../media/image-4-1.png"/><Relationship Id="rId6" Type="http://schemas.openxmlformats.org/officeDocument/2006/relationships/image" Target="../media/image-4-1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1.png"/><Relationship Id="rId3" Type="http://schemas.openxmlformats.org/officeDocument/2006/relationships/image" Target="../media/image-5-1.png"/><Relationship Id="rId4" Type="http://schemas.openxmlformats.org/officeDocument/2006/relationships/image" Target="../media/image-5-1.png"/><Relationship Id="rId5" Type="http://schemas.openxmlformats.org/officeDocument/2006/relationships/image" Target="../media/image-5-1.png"/><Relationship Id="rId6" Type="http://schemas.openxmlformats.org/officeDocument/2006/relationships/image" Target="../media/image-5-1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1.png"/><Relationship Id="rId3" Type="http://schemas.openxmlformats.org/officeDocument/2006/relationships/image" Target="../media/image-10-1.png"/><Relationship Id="rId4" Type="http://schemas.openxmlformats.org/officeDocument/2006/relationships/image" Target="../media/image-10-1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A4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2A41"/>
          </a:solidFill>
          <a:ln/>
        </p:spPr>
      </p:sp>
      <p:sp>
        <p:nvSpPr>
          <p:cNvPr id="3" name="Shape 1"/>
          <p:cNvSpPr/>
          <p:nvPr/>
        </p:nvSpPr>
        <p:spPr>
          <a:xfrm>
            <a:off x="9692640" y="-1645920"/>
            <a:ext cx="4572000" cy="4572000"/>
          </a:xfrm>
          <a:prstGeom prst="ellipse">
            <a:avLst/>
          </a:prstGeom>
          <a:solidFill>
            <a:srgbClr val="3A506B">
              <a:alpha val="4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-1371600" y="4754880"/>
            <a:ext cx="3657600" cy="3657600"/>
          </a:xfrm>
          <a:prstGeom prst="ellipse">
            <a:avLst/>
          </a:prstGeom>
          <a:solidFill>
            <a:srgbClr val="E63946">
              <a:alpha val="22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5413248" y="1234440"/>
            <a:ext cx="1371600" cy="1371600"/>
          </a:xfrm>
          <a:prstGeom prst="ellipse">
            <a:avLst/>
          </a:prstGeom>
          <a:solidFill>
            <a:srgbClr val="24344A"/>
          </a:solidFill>
          <a:ln/>
        </p:spPr>
      </p:sp>
      <p:pic>
        <p:nvPicPr>
          <p:cNvPr id="6" name="Image 0" descr="icons/shiel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42432" y="1563624"/>
            <a:ext cx="713232" cy="713232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731520" y="2880360"/>
            <a:ext cx="10725912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PHISHING AWARENESS TRAINING</a:t>
            </a:r>
            <a:endParaRPr lang="en-US" sz="4000" dirty="0"/>
          </a:p>
        </p:txBody>
      </p:sp>
      <p:sp>
        <p:nvSpPr>
          <p:cNvPr id="8" name="Text 5"/>
          <p:cNvSpPr txBox="1"/>
          <p:nvPr/>
        </p:nvSpPr>
        <p:spPr>
          <a:xfrm>
            <a:off x="731520" y="3794760"/>
            <a:ext cx="1072591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Recognize the bait. Resist the click. Report the threat.</a:t>
            </a:r>
            <a:endParaRPr lang="en-US" sz="1800" dirty="0"/>
          </a:p>
        </p:txBody>
      </p:sp>
      <p:sp>
        <p:nvSpPr>
          <p:cNvPr id="9" name="Text 6"/>
          <p:cNvSpPr txBox="1"/>
          <p:nvPr/>
        </p:nvSpPr>
        <p:spPr>
          <a:xfrm>
            <a:off x="731520" y="5943600"/>
            <a:ext cx="1072591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Awareness Program  •  Module 1 of 1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Phishing?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6675120" cy="4480560"/>
          </a:xfrm>
          <a:prstGeom prst="roundRect">
            <a:avLst>
              <a:gd name="adj" fmla="val 2449"/>
            </a:avLst>
          </a:prstGeom>
          <a:solidFill>
            <a:srgbClr val="F7F7F5"/>
          </a:solidFill>
          <a:ln w="12700">
            <a:solidFill>
              <a:srgbClr val="E3E6EA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68680" y="1645920"/>
            <a:ext cx="621792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Phishing</a:t>
            </a:r>
            <a:pPr indent="0" marL="0">
              <a:buNone/>
            </a:pPr>
            <a:r>
              <a:rPr lang="en-US" sz="15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is a cyberattack where criminals impersonate a trusted source — a bank, coworker, or well-known brand — to trick you into: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868680" y="2953512"/>
            <a:ext cx="109728" cy="109728"/>
          </a:xfrm>
          <a:prstGeom prst="ellipse">
            <a:avLst/>
          </a:prstGeom>
          <a:solidFill>
            <a:srgbClr val="E63946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143000" y="2807208"/>
            <a:ext cx="5852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Revealing passwords or personal data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868680" y="3410712"/>
            <a:ext cx="109728" cy="109728"/>
          </a:xfrm>
          <a:prstGeom prst="ellipse">
            <a:avLst/>
          </a:prstGeom>
          <a:solidFill>
            <a:srgbClr val="E63946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1143000" y="3264408"/>
            <a:ext cx="5852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Clicking malicious links or attachments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868680" y="3867912"/>
            <a:ext cx="109728" cy="109728"/>
          </a:xfrm>
          <a:prstGeom prst="ellipse">
            <a:avLst/>
          </a:prstGeom>
          <a:solidFill>
            <a:srgbClr val="E63946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1143000" y="3721608"/>
            <a:ext cx="5852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Sending money or gift cards</a:t>
            </a:r>
            <a:endParaRPr lang="en-US" sz="1450" dirty="0"/>
          </a:p>
        </p:txBody>
      </p:sp>
      <p:sp>
        <p:nvSpPr>
          <p:cNvPr id="11" name="Shape 9"/>
          <p:cNvSpPr/>
          <p:nvPr/>
        </p:nvSpPr>
        <p:spPr>
          <a:xfrm>
            <a:off x="868680" y="4325112"/>
            <a:ext cx="109728" cy="109728"/>
          </a:xfrm>
          <a:prstGeom prst="ellipse">
            <a:avLst/>
          </a:prstGeom>
          <a:solidFill>
            <a:srgbClr val="E63946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1143000" y="4178808"/>
            <a:ext cx="5852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Installing malware on a device</a:t>
            </a:r>
            <a:endParaRPr lang="en-US" sz="1450" dirty="0"/>
          </a:p>
        </p:txBody>
      </p:sp>
      <p:sp>
        <p:nvSpPr>
          <p:cNvPr id="13" name="Text 11"/>
          <p:cNvSpPr txBox="1"/>
          <p:nvPr/>
        </p:nvSpPr>
        <p:spPr>
          <a:xfrm>
            <a:off x="868680" y="4892040"/>
            <a:ext cx="62179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3A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It's the #1 way attackers get their first foothold — no hacking required, just a convincing lie.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7498080" y="1371600"/>
            <a:ext cx="4114800" cy="4480560"/>
          </a:xfrm>
          <a:prstGeom prst="roundRect">
            <a:avLst>
              <a:gd name="adj" fmla="val 2667"/>
            </a:avLst>
          </a:prstGeom>
          <a:solidFill>
            <a:srgbClr val="1B2A41"/>
          </a:solidFill>
          <a:ln/>
        </p:spPr>
      </p:sp>
      <p:sp>
        <p:nvSpPr>
          <p:cNvPr id="15" name="Shape 13"/>
          <p:cNvSpPr/>
          <p:nvPr/>
        </p:nvSpPr>
        <p:spPr>
          <a:xfrm>
            <a:off x="9098280" y="1783080"/>
            <a:ext cx="914400" cy="914400"/>
          </a:xfrm>
          <a:prstGeom prst="ellipse">
            <a:avLst/>
          </a:prstGeom>
          <a:solidFill>
            <a:srgbClr val="24344A"/>
          </a:solidFill>
          <a:ln/>
        </p:spPr>
      </p:sp>
      <p:pic>
        <p:nvPicPr>
          <p:cNvPr id="16" name="Image 0" descr="icons/mai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17736" y="2002536"/>
            <a:ext cx="475488" cy="475488"/>
          </a:xfrm>
          <a:prstGeom prst="rect">
            <a:avLst/>
          </a:prstGeom>
        </p:spPr>
      </p:pic>
      <p:sp>
        <p:nvSpPr>
          <p:cNvPr id="17" name="Text 14"/>
          <p:cNvSpPr txBox="1"/>
          <p:nvPr/>
        </p:nvSpPr>
        <p:spPr>
          <a:xfrm>
            <a:off x="7498080" y="278892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91%</a:t>
            </a:r>
            <a:endParaRPr lang="en-US" sz="5400" dirty="0"/>
          </a:p>
        </p:txBody>
      </p:sp>
      <p:sp>
        <p:nvSpPr>
          <p:cNvPr id="18" name="Text 15"/>
          <p:cNvSpPr txBox="1"/>
          <p:nvPr/>
        </p:nvSpPr>
        <p:spPr>
          <a:xfrm>
            <a:off x="7818120" y="3703320"/>
            <a:ext cx="3474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cyberattacks start with a phishing email</a:t>
            </a:r>
            <a:endParaRPr lang="en-US" sz="1300" dirty="0"/>
          </a:p>
        </p:txBody>
      </p:sp>
      <p:sp>
        <p:nvSpPr>
          <p:cNvPr id="19" name="Text 16"/>
          <p:cNvSpPr txBox="1"/>
          <p:nvPr/>
        </p:nvSpPr>
        <p:spPr>
          <a:xfrm>
            <a:off x="7818120" y="5212080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industry phishing threat reports</a:t>
            </a:r>
            <a:endParaRPr lang="en-US" sz="1000" dirty="0"/>
          </a:p>
        </p:txBody>
      </p:sp>
      <p:sp>
        <p:nvSpPr>
          <p:cNvPr id="20" name="Text 17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Phishing Awareness Training</a:t>
            </a:r>
            <a:endParaRPr lang="en-US" sz="900" dirty="0"/>
          </a:p>
        </p:txBody>
      </p:sp>
      <p:sp>
        <p:nvSpPr>
          <p:cNvPr id="21" name="Text 18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9144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Types of Phishing Attacks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5156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Attackers adapt the channel — the trick stays the same.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3566160" cy="2103120"/>
          </a:xfrm>
          <a:prstGeom prst="roundRect">
            <a:avLst>
              <a:gd name="adj" fmla="val 4348"/>
            </a:avLst>
          </a:prstGeom>
          <a:solidFill>
            <a:srgbClr val="F7F7F5"/>
          </a:solidFill>
          <a:ln w="12700">
            <a:solidFill>
              <a:srgbClr val="E3E6E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7240" y="1828800"/>
            <a:ext cx="594360" cy="59436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6" name="Image 0" descr="icons/mai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9886" y="1971446"/>
            <a:ext cx="309067" cy="309067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508760" y="1801368"/>
            <a:ext cx="2423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Email Phishing</a:t>
            </a:r>
            <a:endParaRPr lang="en-US" sz="1500" dirty="0"/>
          </a:p>
        </p:txBody>
      </p:sp>
      <p:sp>
        <p:nvSpPr>
          <p:cNvPr id="8" name="Text 5"/>
          <p:cNvSpPr txBox="1"/>
          <p:nvPr/>
        </p:nvSpPr>
        <p:spPr>
          <a:xfrm>
            <a:off x="777240" y="2468880"/>
            <a:ext cx="310896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Mass fake emails from 'banks' or brands, sent to thousands hoping a few click.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4370832" y="1600200"/>
            <a:ext cx="3566160" cy="2103120"/>
          </a:xfrm>
          <a:prstGeom prst="roundRect">
            <a:avLst>
              <a:gd name="adj" fmla="val 4348"/>
            </a:avLst>
          </a:prstGeom>
          <a:solidFill>
            <a:srgbClr val="F7F7F5"/>
          </a:solidFill>
          <a:ln w="12700">
            <a:solidFill>
              <a:srgbClr val="E3E6EA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599432" y="1828800"/>
            <a:ext cx="594360" cy="59436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1" name="Image 1" descr="icons/targe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42078" y="1971446"/>
            <a:ext cx="309067" cy="309067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5330952" y="1801368"/>
            <a:ext cx="2423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Spear Phishing</a:t>
            </a:r>
            <a:endParaRPr lang="en-US" sz="1500" dirty="0"/>
          </a:p>
        </p:txBody>
      </p:sp>
      <p:sp>
        <p:nvSpPr>
          <p:cNvPr id="13" name="Text 9"/>
          <p:cNvSpPr txBox="1"/>
          <p:nvPr/>
        </p:nvSpPr>
        <p:spPr>
          <a:xfrm>
            <a:off x="4599432" y="2468880"/>
            <a:ext cx="310896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targeted email crafted using details about YOU — your name, role, or projects.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8193024" y="1600200"/>
            <a:ext cx="3566160" cy="2103120"/>
          </a:xfrm>
          <a:prstGeom prst="roundRect">
            <a:avLst>
              <a:gd name="adj" fmla="val 4348"/>
            </a:avLst>
          </a:prstGeom>
          <a:solidFill>
            <a:srgbClr val="F7F7F5"/>
          </a:solidFill>
          <a:ln w="12700">
            <a:solidFill>
              <a:srgbClr val="E3E6EA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8421624" y="1828800"/>
            <a:ext cx="594360" cy="59436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6" name="Image 2" descr="icons/crown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64270" y="1971446"/>
            <a:ext cx="309067" cy="309067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9153144" y="1801368"/>
            <a:ext cx="2423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Whaling</a:t>
            </a:r>
            <a:endParaRPr lang="en-US" sz="1500" dirty="0"/>
          </a:p>
        </p:txBody>
      </p:sp>
      <p:sp>
        <p:nvSpPr>
          <p:cNvPr id="18" name="Text 13"/>
          <p:cNvSpPr txBox="1"/>
          <p:nvPr/>
        </p:nvSpPr>
        <p:spPr>
          <a:xfrm>
            <a:off x="8421624" y="2468880"/>
            <a:ext cx="310896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Spear phishing aimed at executives — fake 'urgent' requests from the CEO/CFO.</a:t>
            </a:r>
            <a:endParaRPr lang="en-US" sz="1150" dirty="0"/>
          </a:p>
        </p:txBody>
      </p:sp>
      <p:sp>
        <p:nvSpPr>
          <p:cNvPr id="19" name="Shape 14"/>
          <p:cNvSpPr/>
          <p:nvPr/>
        </p:nvSpPr>
        <p:spPr>
          <a:xfrm>
            <a:off x="548640" y="3977640"/>
            <a:ext cx="3566160" cy="2103120"/>
          </a:xfrm>
          <a:prstGeom prst="roundRect">
            <a:avLst>
              <a:gd name="adj" fmla="val 4348"/>
            </a:avLst>
          </a:prstGeom>
          <a:solidFill>
            <a:srgbClr val="F7F7F5"/>
          </a:solidFill>
          <a:ln w="12700">
            <a:solidFill>
              <a:srgbClr val="E3E6EA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777240" y="4206240"/>
            <a:ext cx="594360" cy="59436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21" name="Image 3" descr="icons/messag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9886" y="4348886"/>
            <a:ext cx="309067" cy="309067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1508760" y="4178808"/>
            <a:ext cx="2423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Smishing</a:t>
            </a:r>
            <a:endParaRPr lang="en-US" sz="1500" dirty="0"/>
          </a:p>
        </p:txBody>
      </p:sp>
      <p:sp>
        <p:nvSpPr>
          <p:cNvPr id="23" name="Text 17"/>
          <p:cNvSpPr txBox="1"/>
          <p:nvPr/>
        </p:nvSpPr>
        <p:spPr>
          <a:xfrm>
            <a:off x="777240" y="4846320"/>
            <a:ext cx="310896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Phishing via SMS text — fake delivery alerts or bank fraud warnings.</a:t>
            </a:r>
            <a:endParaRPr lang="en-US" sz="1150" dirty="0"/>
          </a:p>
        </p:txBody>
      </p:sp>
      <p:sp>
        <p:nvSpPr>
          <p:cNvPr id="24" name="Shape 18"/>
          <p:cNvSpPr/>
          <p:nvPr/>
        </p:nvSpPr>
        <p:spPr>
          <a:xfrm>
            <a:off x="4370832" y="3977640"/>
            <a:ext cx="3566160" cy="2103120"/>
          </a:xfrm>
          <a:prstGeom prst="roundRect">
            <a:avLst>
              <a:gd name="adj" fmla="val 4348"/>
            </a:avLst>
          </a:prstGeom>
          <a:solidFill>
            <a:srgbClr val="F7F7F5"/>
          </a:solidFill>
          <a:ln w="12700">
            <a:solidFill>
              <a:srgbClr val="E3E6EA"/>
            </a:solidFill>
            <a:prstDash val="solid"/>
          </a:ln>
        </p:spPr>
      </p:sp>
      <p:sp>
        <p:nvSpPr>
          <p:cNvPr id="25" name="Shape 19"/>
          <p:cNvSpPr/>
          <p:nvPr/>
        </p:nvSpPr>
        <p:spPr>
          <a:xfrm>
            <a:off x="4599432" y="4206240"/>
            <a:ext cx="594360" cy="59436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26" name="Image 4" descr="icons/phon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42078" y="4348886"/>
            <a:ext cx="309067" cy="309067"/>
          </a:xfrm>
          <a:prstGeom prst="rect">
            <a:avLst/>
          </a:prstGeom>
        </p:spPr>
      </p:pic>
      <p:sp>
        <p:nvSpPr>
          <p:cNvPr id="27" name="Text 20"/>
          <p:cNvSpPr txBox="1"/>
          <p:nvPr/>
        </p:nvSpPr>
        <p:spPr>
          <a:xfrm>
            <a:off x="5330952" y="4178808"/>
            <a:ext cx="2423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Vishing</a:t>
            </a:r>
            <a:endParaRPr lang="en-US" sz="1500" dirty="0"/>
          </a:p>
        </p:txBody>
      </p:sp>
      <p:sp>
        <p:nvSpPr>
          <p:cNvPr id="28" name="Text 21"/>
          <p:cNvSpPr txBox="1"/>
          <p:nvPr/>
        </p:nvSpPr>
        <p:spPr>
          <a:xfrm>
            <a:off x="4599432" y="4846320"/>
            <a:ext cx="310896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 phishing — a scam phone call impersonating IT support or a bank agent.</a:t>
            </a:r>
            <a:endParaRPr lang="en-US" sz="1150" dirty="0"/>
          </a:p>
        </p:txBody>
      </p:sp>
      <p:sp>
        <p:nvSpPr>
          <p:cNvPr id="29" name="Shape 22"/>
          <p:cNvSpPr/>
          <p:nvPr/>
        </p:nvSpPr>
        <p:spPr>
          <a:xfrm>
            <a:off x="8193024" y="3977640"/>
            <a:ext cx="3566160" cy="2103120"/>
          </a:xfrm>
          <a:prstGeom prst="roundRect">
            <a:avLst>
              <a:gd name="adj" fmla="val 4348"/>
            </a:avLst>
          </a:prstGeom>
          <a:solidFill>
            <a:srgbClr val="F7F7F5"/>
          </a:solidFill>
          <a:ln w="12700">
            <a:solidFill>
              <a:srgbClr val="E3E6EA"/>
            </a:solidFill>
            <a:prstDash val="solid"/>
          </a:ln>
        </p:spPr>
      </p:sp>
      <p:sp>
        <p:nvSpPr>
          <p:cNvPr id="30" name="Shape 23"/>
          <p:cNvSpPr/>
          <p:nvPr/>
        </p:nvSpPr>
        <p:spPr>
          <a:xfrm>
            <a:off x="8421624" y="4206240"/>
            <a:ext cx="594360" cy="59436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31" name="Image 5" descr="icons/copy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64270" y="4348886"/>
            <a:ext cx="309067" cy="309067"/>
          </a:xfrm>
          <a:prstGeom prst="rect">
            <a:avLst/>
          </a:prstGeom>
        </p:spPr>
      </p:pic>
      <p:sp>
        <p:nvSpPr>
          <p:cNvPr id="32" name="Text 24"/>
          <p:cNvSpPr txBox="1"/>
          <p:nvPr/>
        </p:nvSpPr>
        <p:spPr>
          <a:xfrm>
            <a:off x="9153144" y="4178808"/>
            <a:ext cx="2423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Clone Phishing</a:t>
            </a:r>
            <a:endParaRPr lang="en-US" sz="1500" dirty="0"/>
          </a:p>
        </p:txBody>
      </p:sp>
      <p:sp>
        <p:nvSpPr>
          <p:cNvPr id="33" name="Text 25"/>
          <p:cNvSpPr txBox="1"/>
          <p:nvPr/>
        </p:nvSpPr>
        <p:spPr>
          <a:xfrm>
            <a:off x="8421624" y="4846320"/>
            <a:ext cx="310896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real email you received is copied and resent with a malicious link swapped in.</a:t>
            </a:r>
            <a:endParaRPr lang="en-US" sz="1150" dirty="0"/>
          </a:p>
        </p:txBody>
      </p:sp>
      <p:sp>
        <p:nvSpPr>
          <p:cNvPr id="34" name="Text 26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Phishing Awareness Training</a:t>
            </a:r>
            <a:endParaRPr lang="en-US" sz="900" dirty="0"/>
          </a:p>
        </p:txBody>
      </p:sp>
      <p:sp>
        <p:nvSpPr>
          <p:cNvPr id="35" name="Text 27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9144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Spotting a Phishing Email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463040"/>
            <a:ext cx="6035040" cy="4663440"/>
          </a:xfrm>
          <a:prstGeom prst="roundRect">
            <a:avLst>
              <a:gd name="adj" fmla="val 1569"/>
            </a:avLst>
          </a:prstGeom>
          <a:solidFill>
            <a:srgbClr val="FFFFFF"/>
          </a:solidFill>
          <a:ln w="19050">
            <a:solidFill>
              <a:srgbClr val="D8DCE1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48640" y="1463040"/>
            <a:ext cx="6035040" cy="502920"/>
          </a:xfrm>
          <a:prstGeom prst="rect">
            <a:avLst/>
          </a:prstGeom>
          <a:solidFill>
            <a:srgbClr val="EDEFF2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731520" y="1517904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Message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2148840"/>
            <a:ext cx="822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From:</a:t>
            </a:r>
            <a:endParaRPr lang="en-US" sz="1150" dirty="0"/>
          </a:p>
        </p:txBody>
      </p:sp>
      <p:sp>
        <p:nvSpPr>
          <p:cNvPr id="7" name="Text 5"/>
          <p:cNvSpPr txBox="1"/>
          <p:nvPr/>
        </p:nvSpPr>
        <p:spPr>
          <a:xfrm>
            <a:off x="1554480" y="2148840"/>
            <a:ext cx="4846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IT-Support@secure-mail-verify.com</a:t>
            </a:r>
            <a:endParaRPr lang="en-US" sz="1150" dirty="0"/>
          </a:p>
        </p:txBody>
      </p:sp>
      <p:sp>
        <p:nvSpPr>
          <p:cNvPr id="8" name="Text 6"/>
          <p:cNvSpPr txBox="1"/>
          <p:nvPr/>
        </p:nvSpPr>
        <p:spPr>
          <a:xfrm>
            <a:off x="731520" y="2514600"/>
            <a:ext cx="822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To:</a:t>
            </a:r>
            <a:endParaRPr lang="en-US" sz="1150" dirty="0"/>
          </a:p>
        </p:txBody>
      </p:sp>
      <p:sp>
        <p:nvSpPr>
          <p:cNvPr id="9" name="Text 7"/>
          <p:cNvSpPr txBox="1"/>
          <p:nvPr/>
        </p:nvSpPr>
        <p:spPr>
          <a:xfrm>
            <a:off x="1554480" y="2514600"/>
            <a:ext cx="4846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you@yourcompany.com</a:t>
            </a:r>
            <a:endParaRPr lang="en-US" sz="1150" dirty="0"/>
          </a:p>
        </p:txBody>
      </p:sp>
      <p:sp>
        <p:nvSpPr>
          <p:cNvPr id="10" name="Text 8"/>
          <p:cNvSpPr txBox="1"/>
          <p:nvPr/>
        </p:nvSpPr>
        <p:spPr>
          <a:xfrm>
            <a:off x="731520" y="2880360"/>
            <a:ext cx="822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Subject:</a:t>
            </a:r>
            <a:endParaRPr lang="en-US" sz="1150" dirty="0"/>
          </a:p>
        </p:txBody>
      </p:sp>
      <p:sp>
        <p:nvSpPr>
          <p:cNvPr id="11" name="Text 9"/>
          <p:cNvSpPr txBox="1"/>
          <p:nvPr/>
        </p:nvSpPr>
        <p:spPr>
          <a:xfrm>
            <a:off x="1554480" y="2880360"/>
            <a:ext cx="4846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URGENT: Your Account Will Be Suspended in 24 Hours!!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731520" y="3291840"/>
            <a:ext cx="5669280" cy="0"/>
          </a:xfrm>
          <a:prstGeom prst="line">
            <a:avLst/>
          </a:prstGeom>
          <a:noFill/>
          <a:ln w="12700">
            <a:solidFill>
              <a:srgbClr val="E3E6EA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731520" y="3429000"/>
            <a:ext cx="5669280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Dear Customer,</a:t>
            </a: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detected unusual activity. Click below immediately to verify your identity or your account will be permanently locked.</a:t>
            </a: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 Verify My Account Now</a:t>
            </a: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you,</a:t>
            </a: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Team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731520" y="5440680"/>
            <a:ext cx="5669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6394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hxxp://secure-mail-verify-login.ru/reset</a:t>
            </a:r>
            <a:endParaRPr lang="en-US" sz="1050" dirty="0"/>
          </a:p>
        </p:txBody>
      </p:sp>
      <p:sp>
        <p:nvSpPr>
          <p:cNvPr id="15" name="Text 13"/>
          <p:cNvSpPr txBox="1"/>
          <p:nvPr/>
        </p:nvSpPr>
        <p:spPr>
          <a:xfrm>
            <a:off x="731520" y="5760720"/>
            <a:ext cx="5669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← hovering the button reveals this real link</a:t>
            </a:r>
            <a:endParaRPr lang="en-US" sz="1000" dirty="0"/>
          </a:p>
        </p:txBody>
      </p:sp>
      <p:sp>
        <p:nvSpPr>
          <p:cNvPr id="16" name="Text 14"/>
          <p:cNvSpPr txBox="1"/>
          <p:nvPr/>
        </p:nvSpPr>
        <p:spPr>
          <a:xfrm>
            <a:off x="6903720" y="1481328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639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RED FLAGS TO CHECK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6903720" y="1965960"/>
            <a:ext cx="384048" cy="384048"/>
          </a:xfrm>
          <a:prstGeom prst="ellipse">
            <a:avLst/>
          </a:prstGeom>
          <a:solidFill>
            <a:srgbClr val="FCE8E9"/>
          </a:solidFill>
          <a:ln/>
        </p:spPr>
      </p:sp>
      <p:pic>
        <p:nvPicPr>
          <p:cNvPr id="18" name="Image 0" descr="icons/aler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95892" y="2058132"/>
            <a:ext cx="199705" cy="199705"/>
          </a:xfrm>
          <a:prstGeom prst="rect">
            <a:avLst/>
          </a:prstGeom>
        </p:spPr>
      </p:pic>
      <p:sp>
        <p:nvSpPr>
          <p:cNvPr id="19" name="Text 16"/>
          <p:cNvSpPr txBox="1"/>
          <p:nvPr/>
        </p:nvSpPr>
        <p:spPr>
          <a:xfrm>
            <a:off x="7434072" y="1947672"/>
            <a:ext cx="4206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Sender domain looks close, but wrong (secure-mail-verify.com)</a:t>
            </a:r>
            <a:endParaRPr lang="en-US" sz="1250" dirty="0"/>
          </a:p>
        </p:txBody>
      </p:sp>
      <p:sp>
        <p:nvSpPr>
          <p:cNvPr id="20" name="Shape 17"/>
          <p:cNvSpPr/>
          <p:nvPr/>
        </p:nvSpPr>
        <p:spPr>
          <a:xfrm>
            <a:off x="6903720" y="2651760"/>
            <a:ext cx="384048" cy="384048"/>
          </a:xfrm>
          <a:prstGeom prst="ellipse">
            <a:avLst/>
          </a:prstGeom>
          <a:solidFill>
            <a:srgbClr val="FCE8E9"/>
          </a:solidFill>
          <a:ln/>
        </p:spPr>
      </p:sp>
      <p:pic>
        <p:nvPicPr>
          <p:cNvPr id="21" name="Image 1" descr="icons/aler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95892" y="2743932"/>
            <a:ext cx="199705" cy="199705"/>
          </a:xfrm>
          <a:prstGeom prst="rect">
            <a:avLst/>
          </a:prstGeom>
        </p:spPr>
      </p:pic>
      <p:sp>
        <p:nvSpPr>
          <p:cNvPr id="22" name="Text 18"/>
          <p:cNvSpPr txBox="1"/>
          <p:nvPr/>
        </p:nvSpPr>
        <p:spPr>
          <a:xfrm>
            <a:off x="7434072" y="2633472"/>
            <a:ext cx="4206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Urgent, scary language pressuring quick action</a:t>
            </a:r>
            <a:endParaRPr lang="en-US" sz="1250" dirty="0"/>
          </a:p>
        </p:txBody>
      </p:sp>
      <p:sp>
        <p:nvSpPr>
          <p:cNvPr id="23" name="Shape 19"/>
          <p:cNvSpPr/>
          <p:nvPr/>
        </p:nvSpPr>
        <p:spPr>
          <a:xfrm>
            <a:off x="6903720" y="3337560"/>
            <a:ext cx="384048" cy="384048"/>
          </a:xfrm>
          <a:prstGeom prst="ellipse">
            <a:avLst/>
          </a:prstGeom>
          <a:solidFill>
            <a:srgbClr val="FCE8E9"/>
          </a:solidFill>
          <a:ln/>
        </p:spPr>
      </p:sp>
      <p:pic>
        <p:nvPicPr>
          <p:cNvPr id="24" name="Image 2" descr="icons/aler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95892" y="3429732"/>
            <a:ext cx="199705" cy="199705"/>
          </a:xfrm>
          <a:prstGeom prst="rect">
            <a:avLst/>
          </a:prstGeom>
        </p:spPr>
      </p:pic>
      <p:sp>
        <p:nvSpPr>
          <p:cNvPr id="25" name="Text 20"/>
          <p:cNvSpPr txBox="1"/>
          <p:nvPr/>
        </p:nvSpPr>
        <p:spPr>
          <a:xfrm>
            <a:off x="7434072" y="3319272"/>
            <a:ext cx="4206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Generic greeting (“Dear Customer”, not your name)</a:t>
            </a:r>
            <a:endParaRPr lang="en-US" sz="1250" dirty="0"/>
          </a:p>
        </p:txBody>
      </p:sp>
      <p:sp>
        <p:nvSpPr>
          <p:cNvPr id="26" name="Shape 21"/>
          <p:cNvSpPr/>
          <p:nvPr/>
        </p:nvSpPr>
        <p:spPr>
          <a:xfrm>
            <a:off x="6903720" y="4023360"/>
            <a:ext cx="384048" cy="384048"/>
          </a:xfrm>
          <a:prstGeom prst="ellipse">
            <a:avLst/>
          </a:prstGeom>
          <a:solidFill>
            <a:srgbClr val="FCE8E9"/>
          </a:solidFill>
          <a:ln/>
        </p:spPr>
      </p:sp>
      <p:pic>
        <p:nvPicPr>
          <p:cNvPr id="27" name="Image 3" descr="icons/alert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95892" y="4115532"/>
            <a:ext cx="199705" cy="199705"/>
          </a:xfrm>
          <a:prstGeom prst="rect">
            <a:avLst/>
          </a:prstGeom>
        </p:spPr>
      </p:pic>
      <p:sp>
        <p:nvSpPr>
          <p:cNvPr id="28" name="Text 22"/>
          <p:cNvSpPr txBox="1"/>
          <p:nvPr/>
        </p:nvSpPr>
        <p:spPr>
          <a:xfrm>
            <a:off x="7434072" y="4005072"/>
            <a:ext cx="4206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 text hides a suspicious destination URL</a:t>
            </a:r>
            <a:endParaRPr lang="en-US" sz="1250" dirty="0"/>
          </a:p>
        </p:txBody>
      </p:sp>
      <p:sp>
        <p:nvSpPr>
          <p:cNvPr id="29" name="Shape 23"/>
          <p:cNvSpPr/>
          <p:nvPr/>
        </p:nvSpPr>
        <p:spPr>
          <a:xfrm>
            <a:off x="6903720" y="4709160"/>
            <a:ext cx="384048" cy="384048"/>
          </a:xfrm>
          <a:prstGeom prst="ellipse">
            <a:avLst/>
          </a:prstGeom>
          <a:solidFill>
            <a:srgbClr val="FCE8E9"/>
          </a:solidFill>
          <a:ln/>
        </p:spPr>
      </p:sp>
      <p:pic>
        <p:nvPicPr>
          <p:cNvPr id="30" name="Image 4" descr="icons/alert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95892" y="4801332"/>
            <a:ext cx="199705" cy="199705"/>
          </a:xfrm>
          <a:prstGeom prst="rect">
            <a:avLst/>
          </a:prstGeom>
        </p:spPr>
      </p:pic>
      <p:sp>
        <p:nvSpPr>
          <p:cNvPr id="31" name="Text 24"/>
          <p:cNvSpPr txBox="1"/>
          <p:nvPr/>
        </p:nvSpPr>
        <p:spPr>
          <a:xfrm>
            <a:off x="7434072" y="4690872"/>
            <a:ext cx="4206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Poor grammar, odd spacing, or excessive punctuation</a:t>
            </a:r>
            <a:endParaRPr lang="en-US" sz="1250" dirty="0"/>
          </a:p>
        </p:txBody>
      </p:sp>
      <p:sp>
        <p:nvSpPr>
          <p:cNvPr id="32" name="Shape 25"/>
          <p:cNvSpPr/>
          <p:nvPr/>
        </p:nvSpPr>
        <p:spPr>
          <a:xfrm>
            <a:off x="6903720" y="5394960"/>
            <a:ext cx="384048" cy="384048"/>
          </a:xfrm>
          <a:prstGeom prst="ellipse">
            <a:avLst/>
          </a:prstGeom>
          <a:solidFill>
            <a:srgbClr val="FCE8E9"/>
          </a:solidFill>
          <a:ln/>
        </p:spPr>
      </p:sp>
      <p:pic>
        <p:nvPicPr>
          <p:cNvPr id="33" name="Image 5" descr="icons/alert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995892" y="5487132"/>
            <a:ext cx="199705" cy="199705"/>
          </a:xfrm>
          <a:prstGeom prst="rect">
            <a:avLst/>
          </a:prstGeom>
        </p:spPr>
      </p:pic>
      <p:sp>
        <p:nvSpPr>
          <p:cNvPr id="34" name="Text 26"/>
          <p:cNvSpPr txBox="1"/>
          <p:nvPr/>
        </p:nvSpPr>
        <p:spPr>
          <a:xfrm>
            <a:off x="7434072" y="5376672"/>
            <a:ext cx="4206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Unexpected request to click, log in, or pay</a:t>
            </a:r>
            <a:endParaRPr lang="en-US" sz="1250" dirty="0"/>
          </a:p>
        </p:txBody>
      </p:sp>
      <p:sp>
        <p:nvSpPr>
          <p:cNvPr id="35" name="Text 27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Phishing Awareness Training</a:t>
            </a:r>
            <a:endParaRPr lang="en-US" sz="900" dirty="0"/>
          </a:p>
        </p:txBody>
      </p:sp>
      <p:sp>
        <p:nvSpPr>
          <p:cNvPr id="36" name="Text 28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9144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Spotting a Fake Website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463040"/>
            <a:ext cx="6035040" cy="502920"/>
          </a:xfrm>
          <a:prstGeom prst="roundRect">
            <a:avLst>
              <a:gd name="adj" fmla="val 14545"/>
            </a:avLst>
          </a:prstGeom>
          <a:solidFill>
            <a:srgbClr val="F7F7F5"/>
          </a:solidFill>
          <a:ln w="15240">
            <a:solidFill>
              <a:srgbClr val="D8DCE1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13232" y="1636776"/>
            <a:ext cx="146304" cy="146304"/>
          </a:xfrm>
          <a:prstGeom prst="ellipse">
            <a:avLst/>
          </a:prstGeom>
          <a:solidFill>
            <a:srgbClr val="C9CDD3"/>
          </a:solidFill>
          <a:ln/>
        </p:spPr>
      </p:sp>
      <p:sp>
        <p:nvSpPr>
          <p:cNvPr id="5" name="Shape 3"/>
          <p:cNvSpPr/>
          <p:nvPr/>
        </p:nvSpPr>
        <p:spPr>
          <a:xfrm>
            <a:off x="932688" y="1636776"/>
            <a:ext cx="146304" cy="146304"/>
          </a:xfrm>
          <a:prstGeom prst="ellipse">
            <a:avLst/>
          </a:prstGeom>
          <a:solidFill>
            <a:srgbClr val="C9CDD3"/>
          </a:solidFill>
          <a:ln/>
        </p:spPr>
      </p:sp>
      <p:sp>
        <p:nvSpPr>
          <p:cNvPr id="6" name="Shape 4"/>
          <p:cNvSpPr/>
          <p:nvPr/>
        </p:nvSpPr>
        <p:spPr>
          <a:xfrm>
            <a:off x="1152144" y="1636776"/>
            <a:ext cx="146304" cy="146304"/>
          </a:xfrm>
          <a:prstGeom prst="ellipse">
            <a:avLst/>
          </a:prstGeom>
          <a:solidFill>
            <a:srgbClr val="C9CDD3"/>
          </a:solidFill>
          <a:ln/>
        </p:spPr>
      </p:sp>
      <p:sp>
        <p:nvSpPr>
          <p:cNvPr id="7" name="Shape 5"/>
          <p:cNvSpPr/>
          <p:nvPr/>
        </p:nvSpPr>
        <p:spPr>
          <a:xfrm>
            <a:off x="1371600" y="1554480"/>
            <a:ext cx="5029200" cy="320040"/>
          </a:xfrm>
          <a:prstGeom prst="roundRect">
            <a:avLst>
              <a:gd name="adj" fmla="val 17143"/>
            </a:avLst>
          </a:prstGeom>
          <a:solidFill>
            <a:srgbClr val="FFFFFF"/>
          </a:solidFill>
          <a:ln w="12700">
            <a:solidFill>
              <a:srgbClr val="D8DCE1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1463040" y="1554480"/>
            <a:ext cx="4846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6394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http://yourbank-secure-login.info/account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48640" y="2057400"/>
            <a:ext cx="6035040" cy="3703320"/>
          </a:xfrm>
          <a:prstGeom prst="roundRect">
            <a:avLst>
              <a:gd name="adj" fmla="val 1975"/>
            </a:avLst>
          </a:prstGeom>
          <a:solidFill>
            <a:srgbClr val="FFFFFF"/>
          </a:solidFill>
          <a:ln w="15240">
            <a:solidFill>
              <a:srgbClr val="D8DCE1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914400" y="2377440"/>
            <a:ext cx="5303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YOUR BANK</a:t>
            </a:r>
            <a:endParaRPr lang="en-US" sz="2000" dirty="0"/>
          </a:p>
        </p:txBody>
      </p:sp>
      <p:sp>
        <p:nvSpPr>
          <p:cNvPr id="11" name="Text 9"/>
          <p:cNvSpPr txBox="1"/>
          <p:nvPr/>
        </p:nvSpPr>
        <p:spPr>
          <a:xfrm>
            <a:off x="914400" y="2880360"/>
            <a:ext cx="5303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 in to Online Banking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1463040" y="3429000"/>
            <a:ext cx="4206240" cy="384048"/>
          </a:xfrm>
          <a:prstGeom prst="roundRect">
            <a:avLst>
              <a:gd name="adj" fmla="val 14286"/>
            </a:avLst>
          </a:prstGeom>
          <a:solidFill>
            <a:srgbClr val="F7F7F5"/>
          </a:solidFill>
          <a:ln w="12700">
            <a:solidFill>
              <a:srgbClr val="D8DCE1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1600200" y="3429000"/>
            <a:ext cx="3931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A3A9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Username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1463040" y="3977640"/>
            <a:ext cx="4206240" cy="384048"/>
          </a:xfrm>
          <a:prstGeom prst="roundRect">
            <a:avLst>
              <a:gd name="adj" fmla="val 14286"/>
            </a:avLst>
          </a:prstGeom>
          <a:solidFill>
            <a:srgbClr val="F7F7F5"/>
          </a:solidFill>
          <a:ln w="12700">
            <a:solidFill>
              <a:srgbClr val="D8DCE1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1600200" y="3977640"/>
            <a:ext cx="3931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A3A9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Password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1463040" y="4526280"/>
            <a:ext cx="4206240" cy="411480"/>
          </a:xfrm>
          <a:prstGeom prst="roundRect">
            <a:avLst>
              <a:gd name="adj" fmla="val 13333"/>
            </a:avLst>
          </a:prstGeom>
          <a:solidFill>
            <a:srgbClr val="E63946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1463040" y="4526280"/>
            <a:ext cx="4206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 In</a:t>
            </a:r>
            <a:endParaRPr lang="en-US" sz="1250" dirty="0"/>
          </a:p>
        </p:txBody>
      </p:sp>
      <p:sp>
        <p:nvSpPr>
          <p:cNvPr id="18" name="Text 16"/>
          <p:cNvSpPr txBox="1"/>
          <p:nvPr/>
        </p:nvSpPr>
        <p:spPr>
          <a:xfrm>
            <a:off x="914400" y="5120640"/>
            <a:ext cx="5303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padlock icon · misspelled brand · unfamiliar domain ending</a:t>
            </a:r>
            <a:endParaRPr lang="en-US" sz="1050" dirty="0"/>
          </a:p>
        </p:txBody>
      </p:sp>
      <p:sp>
        <p:nvSpPr>
          <p:cNvPr id="19" name="Text 17"/>
          <p:cNvSpPr txBox="1"/>
          <p:nvPr/>
        </p:nvSpPr>
        <p:spPr>
          <a:xfrm>
            <a:off x="6903720" y="1481328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639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CHECK BEFORE YOU TRUST A SITE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6903720" y="1965960"/>
            <a:ext cx="384048" cy="384048"/>
          </a:xfrm>
          <a:prstGeom prst="ellipse">
            <a:avLst/>
          </a:prstGeom>
          <a:solidFill>
            <a:srgbClr val="FCE8E9"/>
          </a:solidFill>
          <a:ln/>
        </p:spPr>
      </p:sp>
      <p:pic>
        <p:nvPicPr>
          <p:cNvPr id="21" name="Image 0" descr="icons/glob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95892" y="2058132"/>
            <a:ext cx="199705" cy="199705"/>
          </a:xfrm>
          <a:prstGeom prst="rect">
            <a:avLst/>
          </a:prstGeom>
        </p:spPr>
      </p:pic>
      <p:sp>
        <p:nvSpPr>
          <p:cNvPr id="22" name="Text 19"/>
          <p:cNvSpPr txBox="1"/>
          <p:nvPr/>
        </p:nvSpPr>
        <p:spPr>
          <a:xfrm>
            <a:off x="7434072" y="1947672"/>
            <a:ext cx="4206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URL doesn't match the real company domain exactly</a:t>
            </a:r>
            <a:endParaRPr lang="en-US" sz="1250" dirty="0"/>
          </a:p>
        </p:txBody>
      </p:sp>
      <p:sp>
        <p:nvSpPr>
          <p:cNvPr id="23" name="Shape 20"/>
          <p:cNvSpPr/>
          <p:nvPr/>
        </p:nvSpPr>
        <p:spPr>
          <a:xfrm>
            <a:off x="6903720" y="2651760"/>
            <a:ext cx="384048" cy="384048"/>
          </a:xfrm>
          <a:prstGeom prst="ellipse">
            <a:avLst/>
          </a:prstGeom>
          <a:solidFill>
            <a:srgbClr val="FCE8E9"/>
          </a:solidFill>
          <a:ln/>
        </p:spPr>
      </p:sp>
      <p:pic>
        <p:nvPicPr>
          <p:cNvPr id="24" name="Image 1" descr="icons/glob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95892" y="2743932"/>
            <a:ext cx="199705" cy="199705"/>
          </a:xfrm>
          <a:prstGeom prst="rect">
            <a:avLst/>
          </a:prstGeom>
        </p:spPr>
      </p:pic>
      <p:sp>
        <p:nvSpPr>
          <p:cNvPr id="25" name="Text 21"/>
          <p:cNvSpPr txBox="1"/>
          <p:nvPr/>
        </p:nvSpPr>
        <p:spPr>
          <a:xfrm>
            <a:off x="7434072" y="2633472"/>
            <a:ext cx="4206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padlock icon, or browser shows “Not Secure”</a:t>
            </a:r>
            <a:endParaRPr lang="en-US" sz="1250" dirty="0"/>
          </a:p>
        </p:txBody>
      </p:sp>
      <p:sp>
        <p:nvSpPr>
          <p:cNvPr id="26" name="Shape 22"/>
          <p:cNvSpPr/>
          <p:nvPr/>
        </p:nvSpPr>
        <p:spPr>
          <a:xfrm>
            <a:off x="6903720" y="3337560"/>
            <a:ext cx="384048" cy="384048"/>
          </a:xfrm>
          <a:prstGeom prst="ellipse">
            <a:avLst/>
          </a:prstGeom>
          <a:solidFill>
            <a:srgbClr val="FCE8E9"/>
          </a:solidFill>
          <a:ln/>
        </p:spPr>
      </p:sp>
      <p:pic>
        <p:nvPicPr>
          <p:cNvPr id="27" name="Image 2" descr="icons/glob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95892" y="3429732"/>
            <a:ext cx="199705" cy="199705"/>
          </a:xfrm>
          <a:prstGeom prst="rect">
            <a:avLst/>
          </a:prstGeom>
        </p:spPr>
      </p:pic>
      <p:sp>
        <p:nvSpPr>
          <p:cNvPr id="28" name="Text 23"/>
          <p:cNvSpPr txBox="1"/>
          <p:nvPr/>
        </p:nvSpPr>
        <p:spPr>
          <a:xfrm>
            <a:off x="7434072" y="3319272"/>
            <a:ext cx="4206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Strange domain ending (.info, .xyz, .ru, etc.)</a:t>
            </a:r>
            <a:endParaRPr lang="en-US" sz="1250" dirty="0"/>
          </a:p>
        </p:txBody>
      </p:sp>
      <p:sp>
        <p:nvSpPr>
          <p:cNvPr id="29" name="Shape 24"/>
          <p:cNvSpPr/>
          <p:nvPr/>
        </p:nvSpPr>
        <p:spPr>
          <a:xfrm>
            <a:off x="6903720" y="4023360"/>
            <a:ext cx="384048" cy="384048"/>
          </a:xfrm>
          <a:prstGeom prst="ellipse">
            <a:avLst/>
          </a:prstGeom>
          <a:solidFill>
            <a:srgbClr val="FCE8E9"/>
          </a:solidFill>
          <a:ln/>
        </p:spPr>
      </p:sp>
      <p:pic>
        <p:nvPicPr>
          <p:cNvPr id="30" name="Image 3" descr="icons/glob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95892" y="4115532"/>
            <a:ext cx="199705" cy="199705"/>
          </a:xfrm>
          <a:prstGeom prst="rect">
            <a:avLst/>
          </a:prstGeom>
        </p:spPr>
      </p:pic>
      <p:sp>
        <p:nvSpPr>
          <p:cNvPr id="31" name="Text 25"/>
          <p:cNvSpPr txBox="1"/>
          <p:nvPr/>
        </p:nvSpPr>
        <p:spPr>
          <a:xfrm>
            <a:off x="7434072" y="4005072"/>
            <a:ext cx="4206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Site asks for more info than usual (SSN, full card #)</a:t>
            </a:r>
            <a:endParaRPr lang="en-US" sz="1250" dirty="0"/>
          </a:p>
        </p:txBody>
      </p:sp>
      <p:sp>
        <p:nvSpPr>
          <p:cNvPr id="32" name="Shape 26"/>
          <p:cNvSpPr/>
          <p:nvPr/>
        </p:nvSpPr>
        <p:spPr>
          <a:xfrm>
            <a:off x="6903720" y="4709160"/>
            <a:ext cx="384048" cy="384048"/>
          </a:xfrm>
          <a:prstGeom prst="ellipse">
            <a:avLst/>
          </a:prstGeom>
          <a:solidFill>
            <a:srgbClr val="FCE8E9"/>
          </a:solidFill>
          <a:ln/>
        </p:spPr>
      </p:sp>
      <p:pic>
        <p:nvPicPr>
          <p:cNvPr id="33" name="Image 4" descr="icons/glob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95892" y="4801332"/>
            <a:ext cx="199705" cy="199705"/>
          </a:xfrm>
          <a:prstGeom prst="rect">
            <a:avLst/>
          </a:prstGeom>
        </p:spPr>
      </p:pic>
      <p:sp>
        <p:nvSpPr>
          <p:cNvPr id="34" name="Text 27"/>
          <p:cNvSpPr txBox="1"/>
          <p:nvPr/>
        </p:nvSpPr>
        <p:spPr>
          <a:xfrm>
            <a:off x="7434072" y="4690872"/>
            <a:ext cx="4206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looks slightly off — low-res logo, odd fonts</a:t>
            </a:r>
            <a:endParaRPr lang="en-US" sz="1250" dirty="0"/>
          </a:p>
        </p:txBody>
      </p:sp>
      <p:sp>
        <p:nvSpPr>
          <p:cNvPr id="35" name="Shape 28"/>
          <p:cNvSpPr/>
          <p:nvPr/>
        </p:nvSpPr>
        <p:spPr>
          <a:xfrm>
            <a:off x="6903720" y="5394960"/>
            <a:ext cx="384048" cy="384048"/>
          </a:xfrm>
          <a:prstGeom prst="ellipse">
            <a:avLst/>
          </a:prstGeom>
          <a:solidFill>
            <a:srgbClr val="FCE8E9"/>
          </a:solidFill>
          <a:ln/>
        </p:spPr>
      </p:sp>
      <p:pic>
        <p:nvPicPr>
          <p:cNvPr id="36" name="Image 5" descr="icons/globe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995892" y="5487132"/>
            <a:ext cx="199705" cy="199705"/>
          </a:xfrm>
          <a:prstGeom prst="rect">
            <a:avLst/>
          </a:prstGeom>
        </p:spPr>
      </p:pic>
      <p:sp>
        <p:nvSpPr>
          <p:cNvPr id="37" name="Text 29"/>
          <p:cNvSpPr txBox="1"/>
          <p:nvPr/>
        </p:nvSpPr>
        <p:spPr>
          <a:xfrm>
            <a:off x="7434072" y="5376672"/>
            <a:ext cx="4206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arrived via a link, not by typing the address yourself</a:t>
            </a:r>
            <a:endParaRPr lang="en-US" sz="1250" dirty="0"/>
          </a:p>
        </p:txBody>
      </p:sp>
      <p:sp>
        <p:nvSpPr>
          <p:cNvPr id="38" name="Text 30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Phishing Awareness Training</a:t>
            </a:r>
            <a:endParaRPr lang="en-US" sz="900" dirty="0"/>
          </a:p>
        </p:txBody>
      </p:sp>
      <p:sp>
        <p:nvSpPr>
          <p:cNvPr id="39" name="Text 31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9144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Social Engineering Tactics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5156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Phishing exploits psychology, not just technology.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3566160" cy="2103120"/>
          </a:xfrm>
          <a:prstGeom prst="roundRect">
            <a:avLst>
              <a:gd name="adj" fmla="val 4348"/>
            </a:avLst>
          </a:prstGeom>
          <a:solidFill>
            <a:srgbClr val="F7F7F5"/>
          </a:solidFill>
          <a:ln w="12700">
            <a:solidFill>
              <a:srgbClr val="E3E6E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7240" y="1828800"/>
            <a:ext cx="594360" cy="59436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6" name="Image 0" descr="icons/cloc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9886" y="1971446"/>
            <a:ext cx="309067" cy="309067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508760" y="1801368"/>
            <a:ext cx="2423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Urgency</a:t>
            </a:r>
            <a:endParaRPr lang="en-US" sz="1500" dirty="0"/>
          </a:p>
        </p:txBody>
      </p:sp>
      <p:sp>
        <p:nvSpPr>
          <p:cNvPr id="8" name="Text 5"/>
          <p:cNvSpPr txBox="1"/>
          <p:nvPr/>
        </p:nvSpPr>
        <p:spPr>
          <a:xfrm>
            <a:off x="777240" y="2468880"/>
            <a:ext cx="310896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“Act within 24 hours or your account is locked.” Panic short-circuits careful thinking.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4370832" y="1600200"/>
            <a:ext cx="3566160" cy="2103120"/>
          </a:xfrm>
          <a:prstGeom prst="roundRect">
            <a:avLst>
              <a:gd name="adj" fmla="val 4348"/>
            </a:avLst>
          </a:prstGeom>
          <a:solidFill>
            <a:srgbClr val="F7F7F5"/>
          </a:solidFill>
          <a:ln w="12700">
            <a:solidFill>
              <a:srgbClr val="E3E6EA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599432" y="1828800"/>
            <a:ext cx="594360" cy="59436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1" name="Image 1" descr="icons/crow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42078" y="1971446"/>
            <a:ext cx="309067" cy="309067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5330952" y="1801368"/>
            <a:ext cx="2423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Authority</a:t>
            </a:r>
            <a:endParaRPr lang="en-US" sz="1500" dirty="0"/>
          </a:p>
        </p:txBody>
      </p:sp>
      <p:sp>
        <p:nvSpPr>
          <p:cNvPr id="13" name="Text 9"/>
          <p:cNvSpPr txBox="1"/>
          <p:nvPr/>
        </p:nvSpPr>
        <p:spPr>
          <a:xfrm>
            <a:off x="4599432" y="2468880"/>
            <a:ext cx="310896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Impersonating a CEO, IT admin, or the police to make you obey without question.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8193024" y="1600200"/>
            <a:ext cx="3566160" cy="2103120"/>
          </a:xfrm>
          <a:prstGeom prst="roundRect">
            <a:avLst>
              <a:gd name="adj" fmla="val 4348"/>
            </a:avLst>
          </a:prstGeom>
          <a:solidFill>
            <a:srgbClr val="F7F7F5"/>
          </a:solidFill>
          <a:ln w="12700">
            <a:solidFill>
              <a:srgbClr val="E3E6EA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8421624" y="1828800"/>
            <a:ext cx="594360" cy="59436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6" name="Image 2" descr="icons/aler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64270" y="1971446"/>
            <a:ext cx="309067" cy="309067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9153144" y="1801368"/>
            <a:ext cx="2423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Fear</a:t>
            </a:r>
            <a:endParaRPr lang="en-US" sz="1500" dirty="0"/>
          </a:p>
        </p:txBody>
      </p:sp>
      <p:sp>
        <p:nvSpPr>
          <p:cNvPr id="18" name="Text 13"/>
          <p:cNvSpPr txBox="1"/>
          <p:nvPr/>
        </p:nvSpPr>
        <p:spPr>
          <a:xfrm>
            <a:off x="8421624" y="2468880"/>
            <a:ext cx="310896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Threats of fines, legal trouble, or job loss push you to react before you verify.</a:t>
            </a:r>
            <a:endParaRPr lang="en-US" sz="1150" dirty="0"/>
          </a:p>
        </p:txBody>
      </p:sp>
      <p:sp>
        <p:nvSpPr>
          <p:cNvPr id="19" name="Shape 14"/>
          <p:cNvSpPr/>
          <p:nvPr/>
        </p:nvSpPr>
        <p:spPr>
          <a:xfrm>
            <a:off x="548640" y="3977640"/>
            <a:ext cx="3566160" cy="2103120"/>
          </a:xfrm>
          <a:prstGeom prst="roundRect">
            <a:avLst>
              <a:gd name="adj" fmla="val 4348"/>
            </a:avLst>
          </a:prstGeom>
          <a:solidFill>
            <a:srgbClr val="F7F7F5"/>
          </a:solidFill>
          <a:ln w="12700">
            <a:solidFill>
              <a:srgbClr val="E3E6EA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777240" y="4206240"/>
            <a:ext cx="594360" cy="59436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21" name="Image 3" descr="icons/ey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9886" y="4348886"/>
            <a:ext cx="309067" cy="309067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1508760" y="4178808"/>
            <a:ext cx="2423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Curiosity</a:t>
            </a:r>
            <a:endParaRPr lang="en-US" sz="1500" dirty="0"/>
          </a:p>
        </p:txBody>
      </p:sp>
      <p:sp>
        <p:nvSpPr>
          <p:cNvPr id="23" name="Text 17"/>
          <p:cNvSpPr txBox="1"/>
          <p:nvPr/>
        </p:nvSpPr>
        <p:spPr>
          <a:xfrm>
            <a:off x="777240" y="4846320"/>
            <a:ext cx="310896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“See who viewed your profile” or a mystery invoice — bait to make you click.</a:t>
            </a:r>
            <a:endParaRPr lang="en-US" sz="1150" dirty="0"/>
          </a:p>
        </p:txBody>
      </p:sp>
      <p:sp>
        <p:nvSpPr>
          <p:cNvPr id="24" name="Shape 18"/>
          <p:cNvSpPr/>
          <p:nvPr/>
        </p:nvSpPr>
        <p:spPr>
          <a:xfrm>
            <a:off x="4370832" y="3977640"/>
            <a:ext cx="3566160" cy="2103120"/>
          </a:xfrm>
          <a:prstGeom prst="roundRect">
            <a:avLst>
              <a:gd name="adj" fmla="val 4348"/>
            </a:avLst>
          </a:prstGeom>
          <a:solidFill>
            <a:srgbClr val="F7F7F5"/>
          </a:solidFill>
          <a:ln w="12700">
            <a:solidFill>
              <a:srgbClr val="E3E6EA"/>
            </a:solidFill>
            <a:prstDash val="solid"/>
          </a:ln>
        </p:spPr>
      </p:sp>
      <p:sp>
        <p:nvSpPr>
          <p:cNvPr id="25" name="Shape 19"/>
          <p:cNvSpPr/>
          <p:nvPr/>
        </p:nvSpPr>
        <p:spPr>
          <a:xfrm>
            <a:off x="4599432" y="4206240"/>
            <a:ext cx="594360" cy="59436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26" name="Image 4" descr="icons/users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42078" y="4348886"/>
            <a:ext cx="309067" cy="309067"/>
          </a:xfrm>
          <a:prstGeom prst="rect">
            <a:avLst/>
          </a:prstGeom>
        </p:spPr>
      </p:pic>
      <p:sp>
        <p:nvSpPr>
          <p:cNvPr id="27" name="Text 20"/>
          <p:cNvSpPr txBox="1"/>
          <p:nvPr/>
        </p:nvSpPr>
        <p:spPr>
          <a:xfrm>
            <a:off x="5330952" y="4178808"/>
            <a:ext cx="2423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Trust / Familiarity</a:t>
            </a:r>
            <a:endParaRPr lang="en-US" sz="1500" dirty="0"/>
          </a:p>
        </p:txBody>
      </p:sp>
      <p:sp>
        <p:nvSpPr>
          <p:cNvPr id="28" name="Text 21"/>
          <p:cNvSpPr txBox="1"/>
          <p:nvPr/>
        </p:nvSpPr>
        <p:spPr>
          <a:xfrm>
            <a:off x="4599432" y="4846320"/>
            <a:ext cx="310896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Spoofing a real coworker or vendor's name and writing style.</a:t>
            </a:r>
            <a:endParaRPr lang="en-US" sz="1150" dirty="0"/>
          </a:p>
        </p:txBody>
      </p:sp>
      <p:sp>
        <p:nvSpPr>
          <p:cNvPr id="29" name="Shape 22"/>
          <p:cNvSpPr/>
          <p:nvPr/>
        </p:nvSpPr>
        <p:spPr>
          <a:xfrm>
            <a:off x="8193024" y="3977640"/>
            <a:ext cx="3566160" cy="2103120"/>
          </a:xfrm>
          <a:prstGeom prst="roundRect">
            <a:avLst>
              <a:gd name="adj" fmla="val 4348"/>
            </a:avLst>
          </a:prstGeom>
          <a:solidFill>
            <a:srgbClr val="F7F7F5"/>
          </a:solidFill>
          <a:ln w="12700">
            <a:solidFill>
              <a:srgbClr val="E3E6EA"/>
            </a:solidFill>
            <a:prstDash val="solid"/>
          </a:ln>
        </p:spPr>
      </p:sp>
      <p:sp>
        <p:nvSpPr>
          <p:cNvPr id="30" name="Shape 23"/>
          <p:cNvSpPr/>
          <p:nvPr/>
        </p:nvSpPr>
        <p:spPr>
          <a:xfrm>
            <a:off x="8421624" y="4206240"/>
            <a:ext cx="594360" cy="59436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31" name="Image 5" descr="icons/shiel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64270" y="4348886"/>
            <a:ext cx="309067" cy="309067"/>
          </a:xfrm>
          <a:prstGeom prst="rect">
            <a:avLst/>
          </a:prstGeom>
        </p:spPr>
      </p:pic>
      <p:sp>
        <p:nvSpPr>
          <p:cNvPr id="32" name="Text 24"/>
          <p:cNvSpPr txBox="1"/>
          <p:nvPr/>
        </p:nvSpPr>
        <p:spPr>
          <a:xfrm>
            <a:off x="9153144" y="4178808"/>
            <a:ext cx="2423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Reward</a:t>
            </a:r>
            <a:endParaRPr lang="en-US" sz="1500" dirty="0"/>
          </a:p>
        </p:txBody>
      </p:sp>
      <p:sp>
        <p:nvSpPr>
          <p:cNvPr id="33" name="Text 25"/>
          <p:cNvSpPr txBox="1"/>
          <p:nvPr/>
        </p:nvSpPr>
        <p:spPr>
          <a:xfrm>
            <a:off x="8421624" y="4846320"/>
            <a:ext cx="310896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Fake prizes, refunds, or gift cards offered in exchange for 'quick verification'.</a:t>
            </a:r>
            <a:endParaRPr lang="en-US" sz="1150" dirty="0"/>
          </a:p>
        </p:txBody>
      </p:sp>
      <p:sp>
        <p:nvSpPr>
          <p:cNvPr id="34" name="Text 26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Phishing Awareness Training</a:t>
            </a:r>
            <a:endParaRPr lang="en-US" sz="900" dirty="0"/>
          </a:p>
        </p:txBody>
      </p:sp>
      <p:sp>
        <p:nvSpPr>
          <p:cNvPr id="35" name="Text 27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9144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Best Practices &amp; Tips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417320"/>
            <a:ext cx="5440680" cy="4709160"/>
          </a:xfrm>
          <a:prstGeom prst="roundRect">
            <a:avLst>
              <a:gd name="adj" fmla="val 1942"/>
            </a:avLst>
          </a:prstGeom>
          <a:solidFill>
            <a:srgbClr val="EAF6F3"/>
          </a:solidFill>
          <a:ln/>
        </p:spPr>
      </p:sp>
      <p:sp>
        <p:nvSpPr>
          <p:cNvPr id="4" name="Shape 2"/>
          <p:cNvSpPr/>
          <p:nvPr/>
        </p:nvSpPr>
        <p:spPr>
          <a:xfrm>
            <a:off x="868680" y="1691640"/>
            <a:ext cx="502920" cy="50292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5" name="Image 0" descr="icons/chec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9381" y="1812341"/>
            <a:ext cx="261518" cy="261518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508760" y="1691640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A9D8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</a:t>
            </a:r>
            <a:endParaRPr lang="en-US" sz="2000" dirty="0"/>
          </a:p>
        </p:txBody>
      </p:sp>
      <p:sp>
        <p:nvSpPr>
          <p:cNvPr id="7" name="Shape 4"/>
          <p:cNvSpPr/>
          <p:nvPr/>
        </p:nvSpPr>
        <p:spPr>
          <a:xfrm>
            <a:off x="868680" y="2496312"/>
            <a:ext cx="91440" cy="91440"/>
          </a:xfrm>
          <a:prstGeom prst="ellipse">
            <a:avLst/>
          </a:prstGeom>
          <a:solidFill>
            <a:srgbClr val="2A9D8F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1097280" y="2331720"/>
            <a:ext cx="466344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 the sender's exact email address, not just the display name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868680" y="3063240"/>
            <a:ext cx="91440" cy="91440"/>
          </a:xfrm>
          <a:prstGeom prst="ellipse">
            <a:avLst/>
          </a:prstGeom>
          <a:solidFill>
            <a:srgbClr val="2A9D8F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1097280" y="2898648"/>
            <a:ext cx="466344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Hover over links to preview the real URL before clicking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868680" y="3630168"/>
            <a:ext cx="91440" cy="91440"/>
          </a:xfrm>
          <a:prstGeom prst="ellipse">
            <a:avLst/>
          </a:prstGeom>
          <a:solidFill>
            <a:srgbClr val="2A9D8F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1097280" y="3465576"/>
            <a:ext cx="466344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 important sites' addresses directly into the browser</a:t>
            </a:r>
            <a:endParaRPr lang="en-US" sz="1250" dirty="0"/>
          </a:p>
        </p:txBody>
      </p:sp>
      <p:sp>
        <p:nvSpPr>
          <p:cNvPr id="13" name="Shape 10"/>
          <p:cNvSpPr/>
          <p:nvPr/>
        </p:nvSpPr>
        <p:spPr>
          <a:xfrm>
            <a:off x="868680" y="4197096"/>
            <a:ext cx="91440" cy="91440"/>
          </a:xfrm>
          <a:prstGeom prst="ellipse">
            <a:avLst/>
          </a:prstGeom>
          <a:solidFill>
            <a:srgbClr val="2A9D8F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1097280" y="4032504"/>
            <a:ext cx="466344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Contact the company via a known, official number to confirm</a:t>
            </a:r>
            <a:endParaRPr lang="en-US" sz="1250" dirty="0"/>
          </a:p>
        </p:txBody>
      </p:sp>
      <p:sp>
        <p:nvSpPr>
          <p:cNvPr id="15" name="Shape 12"/>
          <p:cNvSpPr/>
          <p:nvPr/>
        </p:nvSpPr>
        <p:spPr>
          <a:xfrm>
            <a:off x="868680" y="4764024"/>
            <a:ext cx="91440" cy="91440"/>
          </a:xfrm>
          <a:prstGeom prst="ellipse">
            <a:avLst/>
          </a:prstGeom>
          <a:solidFill>
            <a:srgbClr val="2A9D8F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1097280" y="4599432"/>
            <a:ext cx="466344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Enable multi-factor authentication (MFA) everywhere possible</a:t>
            </a:r>
            <a:endParaRPr lang="en-US" sz="1250" dirty="0"/>
          </a:p>
        </p:txBody>
      </p:sp>
      <p:sp>
        <p:nvSpPr>
          <p:cNvPr id="17" name="Shape 14"/>
          <p:cNvSpPr/>
          <p:nvPr/>
        </p:nvSpPr>
        <p:spPr>
          <a:xfrm>
            <a:off x="868680" y="5330952"/>
            <a:ext cx="91440" cy="91440"/>
          </a:xfrm>
          <a:prstGeom prst="ellipse">
            <a:avLst/>
          </a:prstGeom>
          <a:solidFill>
            <a:srgbClr val="2A9D8F"/>
          </a:solidFill>
          <a:ln/>
        </p:spPr>
      </p:sp>
      <p:sp>
        <p:nvSpPr>
          <p:cNvPr id="18" name="Text 15"/>
          <p:cNvSpPr txBox="1"/>
          <p:nvPr/>
        </p:nvSpPr>
        <p:spPr>
          <a:xfrm>
            <a:off x="1097280" y="5166360"/>
            <a:ext cx="466344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 suspicious emails to IT / Security immediately</a:t>
            </a:r>
            <a:endParaRPr lang="en-US" sz="1250" dirty="0"/>
          </a:p>
        </p:txBody>
      </p:sp>
      <p:sp>
        <p:nvSpPr>
          <p:cNvPr id="19" name="Shape 16"/>
          <p:cNvSpPr/>
          <p:nvPr/>
        </p:nvSpPr>
        <p:spPr>
          <a:xfrm>
            <a:off x="6199632" y="1417320"/>
            <a:ext cx="5440680" cy="4709160"/>
          </a:xfrm>
          <a:prstGeom prst="roundRect">
            <a:avLst>
              <a:gd name="adj" fmla="val 1942"/>
            </a:avLst>
          </a:prstGeom>
          <a:solidFill>
            <a:srgbClr val="FCEBEC"/>
          </a:solidFill>
          <a:ln/>
        </p:spPr>
      </p:sp>
      <p:sp>
        <p:nvSpPr>
          <p:cNvPr id="20" name="Shape 17"/>
          <p:cNvSpPr/>
          <p:nvPr/>
        </p:nvSpPr>
        <p:spPr>
          <a:xfrm>
            <a:off x="6519672" y="1691640"/>
            <a:ext cx="502920" cy="50292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21" name="Image 1" descr="icons/x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40373" y="1812341"/>
            <a:ext cx="261518" cy="261518"/>
          </a:xfrm>
          <a:prstGeom prst="rect">
            <a:avLst/>
          </a:prstGeom>
        </p:spPr>
      </p:pic>
      <p:sp>
        <p:nvSpPr>
          <p:cNvPr id="22" name="Text 18"/>
          <p:cNvSpPr txBox="1"/>
          <p:nvPr/>
        </p:nvSpPr>
        <p:spPr>
          <a:xfrm>
            <a:off x="7159752" y="1691640"/>
            <a:ext cx="2286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639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DON'T</a:t>
            </a:r>
            <a:endParaRPr lang="en-US" sz="2000" dirty="0"/>
          </a:p>
        </p:txBody>
      </p:sp>
      <p:sp>
        <p:nvSpPr>
          <p:cNvPr id="23" name="Shape 19"/>
          <p:cNvSpPr/>
          <p:nvPr/>
        </p:nvSpPr>
        <p:spPr>
          <a:xfrm>
            <a:off x="6519672" y="2496312"/>
            <a:ext cx="91440" cy="91440"/>
          </a:xfrm>
          <a:prstGeom prst="ellipse">
            <a:avLst/>
          </a:prstGeom>
          <a:solidFill>
            <a:srgbClr val="E63946"/>
          </a:solidFill>
          <a:ln/>
        </p:spPr>
      </p:sp>
      <p:sp>
        <p:nvSpPr>
          <p:cNvPr id="24" name="Text 20"/>
          <p:cNvSpPr txBox="1"/>
          <p:nvPr/>
        </p:nvSpPr>
        <p:spPr>
          <a:xfrm>
            <a:off x="6748272" y="2331720"/>
            <a:ext cx="466344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links or open attachments from unexpected emails</a:t>
            </a:r>
            <a:endParaRPr lang="en-US" sz="1250" dirty="0"/>
          </a:p>
        </p:txBody>
      </p:sp>
      <p:sp>
        <p:nvSpPr>
          <p:cNvPr id="25" name="Shape 21"/>
          <p:cNvSpPr/>
          <p:nvPr/>
        </p:nvSpPr>
        <p:spPr>
          <a:xfrm>
            <a:off x="6519672" y="3063240"/>
            <a:ext cx="91440" cy="91440"/>
          </a:xfrm>
          <a:prstGeom prst="ellipse">
            <a:avLst/>
          </a:prstGeom>
          <a:solidFill>
            <a:srgbClr val="E63946"/>
          </a:solidFill>
          <a:ln/>
        </p:spPr>
      </p:sp>
      <p:sp>
        <p:nvSpPr>
          <p:cNvPr id="26" name="Text 22"/>
          <p:cNvSpPr txBox="1"/>
          <p:nvPr/>
        </p:nvSpPr>
        <p:spPr>
          <a:xfrm>
            <a:off x="6748272" y="2898648"/>
            <a:ext cx="466344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 passwords or codes on a page you reached via email link</a:t>
            </a:r>
            <a:endParaRPr lang="en-US" sz="1250" dirty="0"/>
          </a:p>
        </p:txBody>
      </p:sp>
      <p:sp>
        <p:nvSpPr>
          <p:cNvPr id="27" name="Shape 23"/>
          <p:cNvSpPr/>
          <p:nvPr/>
        </p:nvSpPr>
        <p:spPr>
          <a:xfrm>
            <a:off x="6519672" y="3630168"/>
            <a:ext cx="91440" cy="91440"/>
          </a:xfrm>
          <a:prstGeom prst="ellipse">
            <a:avLst/>
          </a:prstGeom>
          <a:solidFill>
            <a:srgbClr val="E63946"/>
          </a:solidFill>
          <a:ln/>
        </p:spPr>
      </p:sp>
      <p:sp>
        <p:nvSpPr>
          <p:cNvPr id="28" name="Text 24"/>
          <p:cNvSpPr txBox="1"/>
          <p:nvPr/>
        </p:nvSpPr>
        <p:spPr>
          <a:xfrm>
            <a:off x="6748272" y="3465576"/>
            <a:ext cx="466344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 urgency — real companies rarely demand instant action</a:t>
            </a:r>
            <a:endParaRPr lang="en-US" sz="1250" dirty="0"/>
          </a:p>
        </p:txBody>
      </p:sp>
      <p:sp>
        <p:nvSpPr>
          <p:cNvPr id="29" name="Shape 25"/>
          <p:cNvSpPr/>
          <p:nvPr/>
        </p:nvSpPr>
        <p:spPr>
          <a:xfrm>
            <a:off x="6519672" y="4197096"/>
            <a:ext cx="91440" cy="91440"/>
          </a:xfrm>
          <a:prstGeom prst="ellipse">
            <a:avLst/>
          </a:prstGeom>
          <a:solidFill>
            <a:srgbClr val="E63946"/>
          </a:solidFill>
          <a:ln/>
        </p:spPr>
      </p:sp>
      <p:sp>
        <p:nvSpPr>
          <p:cNvPr id="30" name="Text 26"/>
          <p:cNvSpPr txBox="1"/>
          <p:nvPr/>
        </p:nvSpPr>
        <p:spPr>
          <a:xfrm>
            <a:off x="6748272" y="4032504"/>
            <a:ext cx="466344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Reuse the same password across multiple accounts</a:t>
            </a:r>
            <a:endParaRPr lang="en-US" sz="1250" dirty="0"/>
          </a:p>
        </p:txBody>
      </p:sp>
      <p:sp>
        <p:nvSpPr>
          <p:cNvPr id="31" name="Shape 27"/>
          <p:cNvSpPr/>
          <p:nvPr/>
        </p:nvSpPr>
        <p:spPr>
          <a:xfrm>
            <a:off x="6519672" y="4764024"/>
            <a:ext cx="91440" cy="91440"/>
          </a:xfrm>
          <a:prstGeom prst="ellipse">
            <a:avLst/>
          </a:prstGeom>
          <a:solidFill>
            <a:srgbClr val="E63946"/>
          </a:solidFill>
          <a:ln/>
        </p:spPr>
      </p:sp>
      <p:sp>
        <p:nvSpPr>
          <p:cNvPr id="32" name="Text 28"/>
          <p:cNvSpPr txBox="1"/>
          <p:nvPr/>
        </p:nvSpPr>
        <p:spPr>
          <a:xfrm>
            <a:off x="6748272" y="4599432"/>
            <a:ext cx="466344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Assume a familiar logo or name means the email is genuine</a:t>
            </a:r>
            <a:endParaRPr lang="en-US" sz="1250" dirty="0"/>
          </a:p>
        </p:txBody>
      </p:sp>
      <p:sp>
        <p:nvSpPr>
          <p:cNvPr id="33" name="Shape 29"/>
          <p:cNvSpPr/>
          <p:nvPr/>
        </p:nvSpPr>
        <p:spPr>
          <a:xfrm>
            <a:off x="6519672" y="5330952"/>
            <a:ext cx="91440" cy="91440"/>
          </a:xfrm>
          <a:prstGeom prst="ellipse">
            <a:avLst/>
          </a:prstGeom>
          <a:solidFill>
            <a:srgbClr val="E63946"/>
          </a:solidFill>
          <a:ln/>
        </p:spPr>
      </p:sp>
      <p:sp>
        <p:nvSpPr>
          <p:cNvPr id="34" name="Text 30"/>
          <p:cNvSpPr txBox="1"/>
          <p:nvPr/>
        </p:nvSpPr>
        <p:spPr>
          <a:xfrm>
            <a:off x="6748272" y="5166360"/>
            <a:ext cx="466344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 money, gift cards, or sensitive data based on email alone</a:t>
            </a:r>
            <a:endParaRPr lang="en-US" sz="1250" dirty="0"/>
          </a:p>
        </p:txBody>
      </p:sp>
      <p:sp>
        <p:nvSpPr>
          <p:cNvPr id="35" name="Text 31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Phishing Awareness Training</a:t>
            </a:r>
            <a:endParaRPr lang="en-US" sz="900" dirty="0"/>
          </a:p>
        </p:txBody>
      </p:sp>
      <p:sp>
        <p:nvSpPr>
          <p:cNvPr id="36" name="Text 32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9144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If You Suspect Phishing...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5156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Follow these four steps — every time.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2606040" cy="3657600"/>
          </a:xfrm>
          <a:prstGeom prst="roundRect">
            <a:avLst>
              <a:gd name="adj" fmla="val 3509"/>
            </a:avLst>
          </a:prstGeom>
          <a:solidFill>
            <a:srgbClr val="1B2A41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731520" y="1920240"/>
            <a:ext cx="22402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5C759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40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2788920"/>
            <a:ext cx="2240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STOP</a:t>
            </a:r>
            <a:endParaRPr lang="en-US" sz="19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3337560"/>
            <a:ext cx="224028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D7E1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Don't click, reply, download, or forward. Pause before you act.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3136392" y="3291840"/>
            <a:ext cx="38404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3355848" y="1691640"/>
            <a:ext cx="2606040" cy="3657600"/>
          </a:xfrm>
          <a:prstGeom prst="roundRect">
            <a:avLst>
              <a:gd name="adj" fmla="val 3509"/>
            </a:avLst>
          </a:prstGeom>
          <a:solidFill>
            <a:srgbClr val="3A506B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3538728" y="1920240"/>
            <a:ext cx="22402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5C759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4000" dirty="0"/>
          </a:p>
        </p:txBody>
      </p:sp>
      <p:sp>
        <p:nvSpPr>
          <p:cNvPr id="11" name="Text 9"/>
          <p:cNvSpPr txBox="1"/>
          <p:nvPr/>
        </p:nvSpPr>
        <p:spPr>
          <a:xfrm>
            <a:off x="3538728" y="2788920"/>
            <a:ext cx="2240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VERIFY</a:t>
            </a:r>
            <a:endParaRPr lang="en-US" sz="1900" dirty="0"/>
          </a:p>
        </p:txBody>
      </p:sp>
      <p:sp>
        <p:nvSpPr>
          <p:cNvPr id="12" name="Text 10"/>
          <p:cNvSpPr txBox="1"/>
          <p:nvPr/>
        </p:nvSpPr>
        <p:spPr>
          <a:xfrm>
            <a:off x="3538728" y="3337560"/>
            <a:ext cx="224028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D7E1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Contact the sender through a known channel — not the one in the message.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5943600" y="3291840"/>
            <a:ext cx="38404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4" name="Shape 12"/>
          <p:cNvSpPr/>
          <p:nvPr/>
        </p:nvSpPr>
        <p:spPr>
          <a:xfrm>
            <a:off x="6163056" y="1691640"/>
            <a:ext cx="2606040" cy="3657600"/>
          </a:xfrm>
          <a:prstGeom prst="roundRect">
            <a:avLst>
              <a:gd name="adj" fmla="val 3509"/>
            </a:avLst>
          </a:prstGeom>
          <a:solidFill>
            <a:srgbClr val="1B2A41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6345936" y="1920240"/>
            <a:ext cx="22402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5C759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4000" dirty="0"/>
          </a:p>
        </p:txBody>
      </p:sp>
      <p:sp>
        <p:nvSpPr>
          <p:cNvPr id="16" name="Text 14"/>
          <p:cNvSpPr txBox="1"/>
          <p:nvPr/>
        </p:nvSpPr>
        <p:spPr>
          <a:xfrm>
            <a:off x="6345936" y="2788920"/>
            <a:ext cx="2240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REPORT</a:t>
            </a:r>
            <a:endParaRPr lang="en-US" sz="1900" dirty="0"/>
          </a:p>
        </p:txBody>
      </p:sp>
      <p:sp>
        <p:nvSpPr>
          <p:cNvPr id="17" name="Text 15"/>
          <p:cNvSpPr txBox="1"/>
          <p:nvPr/>
        </p:nvSpPr>
        <p:spPr>
          <a:xfrm>
            <a:off x="6345936" y="3337560"/>
            <a:ext cx="224028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D7E1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Forward it to IT/Security or use your organization's “Report Phishing” button.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8750808" y="3291840"/>
            <a:ext cx="38404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9" name="Shape 17"/>
          <p:cNvSpPr/>
          <p:nvPr/>
        </p:nvSpPr>
        <p:spPr>
          <a:xfrm>
            <a:off x="8970264" y="1691640"/>
            <a:ext cx="2606040" cy="3657600"/>
          </a:xfrm>
          <a:prstGeom prst="roundRect">
            <a:avLst>
              <a:gd name="adj" fmla="val 3509"/>
            </a:avLst>
          </a:prstGeom>
          <a:solidFill>
            <a:srgbClr val="3A506B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9153144" y="1920240"/>
            <a:ext cx="22402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5C759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4000" dirty="0"/>
          </a:p>
        </p:txBody>
      </p:sp>
      <p:sp>
        <p:nvSpPr>
          <p:cNvPr id="21" name="Text 19"/>
          <p:cNvSpPr txBox="1"/>
          <p:nvPr/>
        </p:nvSpPr>
        <p:spPr>
          <a:xfrm>
            <a:off x="9153144" y="2788920"/>
            <a:ext cx="2240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DELETE</a:t>
            </a:r>
            <a:endParaRPr lang="en-US" sz="1900" dirty="0"/>
          </a:p>
        </p:txBody>
      </p:sp>
      <p:sp>
        <p:nvSpPr>
          <p:cNvPr id="22" name="Text 20"/>
          <p:cNvSpPr txBox="1"/>
          <p:nvPr/>
        </p:nvSpPr>
        <p:spPr>
          <a:xfrm>
            <a:off x="9153144" y="3337560"/>
            <a:ext cx="224028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D7E1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Once reported, delete the message. Never engage with the sender.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Phishing Awareness Training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9144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Quick Quiz — Test Yourself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10332720" y="457200"/>
            <a:ext cx="685800" cy="685800"/>
          </a:xfrm>
          <a:prstGeom prst="ellipse">
            <a:avLst/>
          </a:prstGeom>
          <a:solidFill>
            <a:srgbClr val="FCE8E9"/>
          </a:solidFill>
          <a:ln/>
        </p:spPr>
      </p:sp>
      <p:pic>
        <p:nvPicPr>
          <p:cNvPr id="4" name="Image 0" descr="icons/hel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97312" y="621792"/>
            <a:ext cx="356616" cy="356616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1097280"/>
            <a:ext cx="9509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Discuss each question as a group before revealing the answer on the next slide.</a:t>
            </a:r>
            <a:endParaRPr lang="en-US" sz="1300" dirty="0"/>
          </a:p>
        </p:txBody>
      </p:sp>
      <p:sp>
        <p:nvSpPr>
          <p:cNvPr id="6" name="Shape 3"/>
          <p:cNvSpPr/>
          <p:nvPr/>
        </p:nvSpPr>
        <p:spPr>
          <a:xfrm>
            <a:off x="548640" y="1600200"/>
            <a:ext cx="5486400" cy="2331720"/>
          </a:xfrm>
          <a:prstGeom prst="roundRect">
            <a:avLst>
              <a:gd name="adj" fmla="val 3922"/>
            </a:avLst>
          </a:prstGeom>
          <a:solidFill>
            <a:srgbClr val="F7F7F5"/>
          </a:solidFill>
          <a:ln w="12700">
            <a:solidFill>
              <a:srgbClr val="E3E6EA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731520" y="1783080"/>
            <a:ext cx="502920" cy="365760"/>
          </a:xfrm>
          <a:prstGeom prst="roundRect">
            <a:avLst>
              <a:gd name="adj" fmla="val 15000"/>
            </a:avLst>
          </a:prstGeom>
          <a:solidFill>
            <a:srgbClr val="E63946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731520" y="1783080"/>
            <a:ext cx="502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</a:t>
            </a:r>
            <a:endParaRPr lang="en-US" sz="1200" dirty="0"/>
          </a:p>
        </p:txBody>
      </p:sp>
      <p:sp>
        <p:nvSpPr>
          <p:cNvPr id="9" name="Text 6"/>
          <p:cNvSpPr txBox="1"/>
          <p:nvPr/>
        </p:nvSpPr>
        <p:spPr>
          <a:xfrm>
            <a:off x="1371600" y="1737360"/>
            <a:ext cx="448056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email from “Amaz0n-Support” asks you to confirm your password via a link. What do you do?</a:t>
            </a:r>
            <a:endParaRPr lang="en-US" sz="1200" dirty="0"/>
          </a:p>
        </p:txBody>
      </p:sp>
      <p:sp>
        <p:nvSpPr>
          <p:cNvPr id="10" name="Text 7"/>
          <p:cNvSpPr txBox="1"/>
          <p:nvPr/>
        </p:nvSpPr>
        <p:spPr>
          <a:xfrm>
            <a:off x="822960" y="256032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A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Click the link right away to be safe</a:t>
            </a:r>
            <a:endParaRPr lang="en-US" sz="1100" dirty="0"/>
          </a:p>
        </p:txBody>
      </p:sp>
      <p:sp>
        <p:nvSpPr>
          <p:cNvPr id="11" name="Text 8"/>
          <p:cNvSpPr txBox="1"/>
          <p:nvPr/>
        </p:nvSpPr>
        <p:spPr>
          <a:xfrm>
            <a:off x="822960" y="2944368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A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Go to amazon.com directly and check your account there</a:t>
            </a:r>
            <a:endParaRPr lang="en-US" sz="1100" dirty="0"/>
          </a:p>
        </p:txBody>
      </p:sp>
      <p:sp>
        <p:nvSpPr>
          <p:cNvPr id="12" name="Text 9"/>
          <p:cNvSpPr txBox="1"/>
          <p:nvPr/>
        </p:nvSpPr>
        <p:spPr>
          <a:xfrm>
            <a:off x="822960" y="3328416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A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Reply asking if it's legitimate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6355080" y="1600200"/>
            <a:ext cx="5486400" cy="2331720"/>
          </a:xfrm>
          <a:prstGeom prst="roundRect">
            <a:avLst>
              <a:gd name="adj" fmla="val 3922"/>
            </a:avLst>
          </a:prstGeom>
          <a:solidFill>
            <a:srgbClr val="F7F7F5"/>
          </a:solidFill>
          <a:ln w="12700">
            <a:solidFill>
              <a:srgbClr val="E3E6EA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6537960" y="1783080"/>
            <a:ext cx="502920" cy="365760"/>
          </a:xfrm>
          <a:prstGeom prst="roundRect">
            <a:avLst>
              <a:gd name="adj" fmla="val 15000"/>
            </a:avLst>
          </a:prstGeom>
          <a:solidFill>
            <a:srgbClr val="E63946"/>
          </a:solidFill>
          <a:ln/>
        </p:spPr>
      </p:sp>
      <p:sp>
        <p:nvSpPr>
          <p:cNvPr id="15" name="Text 12"/>
          <p:cNvSpPr txBox="1"/>
          <p:nvPr/>
        </p:nvSpPr>
        <p:spPr>
          <a:xfrm>
            <a:off x="6537960" y="1783080"/>
            <a:ext cx="502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</a:t>
            </a:r>
            <a:endParaRPr lang="en-US" sz="1200" dirty="0"/>
          </a:p>
        </p:txBody>
      </p:sp>
      <p:sp>
        <p:nvSpPr>
          <p:cNvPr id="16" name="Text 13"/>
          <p:cNvSpPr txBox="1"/>
          <p:nvPr/>
        </p:nvSpPr>
        <p:spPr>
          <a:xfrm>
            <a:off x="7178040" y="1737360"/>
            <a:ext cx="448056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“CEO” emails asking you to urgently buy gift cards and send the codes. This is most likely:</a:t>
            </a:r>
            <a:endParaRPr lang="en-US" sz="1200" dirty="0"/>
          </a:p>
        </p:txBody>
      </p:sp>
      <p:sp>
        <p:nvSpPr>
          <p:cNvPr id="17" name="Text 14"/>
          <p:cNvSpPr txBox="1"/>
          <p:nvPr/>
        </p:nvSpPr>
        <p:spPr>
          <a:xfrm>
            <a:off x="6629400" y="256032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A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A normal request — CEOs do this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6629400" y="2944368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A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Whaling / CEO fraud — verify by phone before acting</a:t>
            </a:r>
            <a:endParaRPr lang="en-US" sz="1100" dirty="0"/>
          </a:p>
        </p:txBody>
      </p:sp>
      <p:sp>
        <p:nvSpPr>
          <p:cNvPr id="19" name="Text 16"/>
          <p:cNvSpPr txBox="1"/>
          <p:nvPr/>
        </p:nvSpPr>
        <p:spPr>
          <a:xfrm>
            <a:off x="6629400" y="3328416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A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Spam you can ignore, no action needed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548640" y="4069080"/>
            <a:ext cx="5486400" cy="2331720"/>
          </a:xfrm>
          <a:prstGeom prst="roundRect">
            <a:avLst>
              <a:gd name="adj" fmla="val 3922"/>
            </a:avLst>
          </a:prstGeom>
          <a:solidFill>
            <a:srgbClr val="F7F7F5"/>
          </a:solidFill>
          <a:ln w="12700">
            <a:solidFill>
              <a:srgbClr val="E3E6EA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731520" y="4251960"/>
            <a:ext cx="502920" cy="365760"/>
          </a:xfrm>
          <a:prstGeom prst="roundRect">
            <a:avLst>
              <a:gd name="adj" fmla="val 15000"/>
            </a:avLst>
          </a:prstGeom>
          <a:solidFill>
            <a:srgbClr val="E63946"/>
          </a:solidFill>
          <a:ln/>
        </p:spPr>
      </p:sp>
      <p:sp>
        <p:nvSpPr>
          <p:cNvPr id="22" name="Text 19"/>
          <p:cNvSpPr txBox="1"/>
          <p:nvPr/>
        </p:nvSpPr>
        <p:spPr>
          <a:xfrm>
            <a:off x="731520" y="4251960"/>
            <a:ext cx="502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</a:t>
            </a:r>
            <a:endParaRPr lang="en-US" sz="1200" dirty="0"/>
          </a:p>
        </p:txBody>
      </p:sp>
      <p:sp>
        <p:nvSpPr>
          <p:cNvPr id="23" name="Text 20"/>
          <p:cNvSpPr txBox="1"/>
          <p:nvPr/>
        </p:nvSpPr>
        <p:spPr>
          <a:xfrm>
            <a:off x="1371600" y="4206240"/>
            <a:ext cx="448056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website's address bar shows “yourbank-login-secure.info” instead of your bank's real domain. You should:</a:t>
            </a:r>
            <a:endParaRPr lang="en-US" sz="1200" dirty="0"/>
          </a:p>
        </p:txBody>
      </p:sp>
      <p:sp>
        <p:nvSpPr>
          <p:cNvPr id="24" name="Text 21"/>
          <p:cNvSpPr txBox="1"/>
          <p:nvPr/>
        </p:nvSpPr>
        <p:spPr>
          <a:xfrm>
            <a:off x="822960" y="502920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A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Enter your login — it looks close enough</a:t>
            </a:r>
            <a:endParaRPr lang="en-US" sz="1100" dirty="0"/>
          </a:p>
        </p:txBody>
      </p:sp>
      <p:sp>
        <p:nvSpPr>
          <p:cNvPr id="25" name="Text 22"/>
          <p:cNvSpPr txBox="1"/>
          <p:nvPr/>
        </p:nvSpPr>
        <p:spPr>
          <a:xfrm>
            <a:off x="822960" y="5413248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A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Close it and type your bank's real URL yourself</a:t>
            </a:r>
            <a:endParaRPr lang="en-US" sz="1100" dirty="0"/>
          </a:p>
        </p:txBody>
      </p:sp>
      <p:sp>
        <p:nvSpPr>
          <p:cNvPr id="26" name="Text 23"/>
          <p:cNvSpPr txBox="1"/>
          <p:nvPr/>
        </p:nvSpPr>
        <p:spPr>
          <a:xfrm>
            <a:off x="822960" y="5797296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A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Bookmark it for later</a:t>
            </a:r>
            <a:endParaRPr lang="en-US" sz="1100" dirty="0"/>
          </a:p>
        </p:txBody>
      </p:sp>
      <p:sp>
        <p:nvSpPr>
          <p:cNvPr id="27" name="Shape 24"/>
          <p:cNvSpPr/>
          <p:nvPr/>
        </p:nvSpPr>
        <p:spPr>
          <a:xfrm>
            <a:off x="6355080" y="4069080"/>
            <a:ext cx="5486400" cy="2331720"/>
          </a:xfrm>
          <a:prstGeom prst="roundRect">
            <a:avLst>
              <a:gd name="adj" fmla="val 3922"/>
            </a:avLst>
          </a:prstGeom>
          <a:solidFill>
            <a:srgbClr val="F7F7F5"/>
          </a:solidFill>
          <a:ln w="12700">
            <a:solidFill>
              <a:srgbClr val="E3E6EA"/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6537960" y="4251960"/>
            <a:ext cx="502920" cy="365760"/>
          </a:xfrm>
          <a:prstGeom prst="roundRect">
            <a:avLst>
              <a:gd name="adj" fmla="val 15000"/>
            </a:avLst>
          </a:prstGeom>
          <a:solidFill>
            <a:srgbClr val="E63946"/>
          </a:solidFill>
          <a:ln/>
        </p:spPr>
      </p:sp>
      <p:sp>
        <p:nvSpPr>
          <p:cNvPr id="29" name="Text 26"/>
          <p:cNvSpPr txBox="1"/>
          <p:nvPr/>
        </p:nvSpPr>
        <p:spPr>
          <a:xfrm>
            <a:off x="6537960" y="4251960"/>
            <a:ext cx="502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Q4</a:t>
            </a:r>
            <a:endParaRPr lang="en-US" sz="1200" dirty="0"/>
          </a:p>
        </p:txBody>
      </p:sp>
      <p:sp>
        <p:nvSpPr>
          <p:cNvPr id="30" name="Text 27"/>
          <p:cNvSpPr txBox="1"/>
          <p:nvPr/>
        </p:nvSpPr>
        <p:spPr>
          <a:xfrm>
            <a:off x="7178040" y="4206240"/>
            <a:ext cx="448056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receive a text (SMS) saying your package is “held” and to click a link to pay a small fee. This is an example of:</a:t>
            </a:r>
            <a:endParaRPr lang="en-US" sz="1200" dirty="0"/>
          </a:p>
        </p:txBody>
      </p:sp>
      <p:sp>
        <p:nvSpPr>
          <p:cNvPr id="31" name="Text 28"/>
          <p:cNvSpPr txBox="1"/>
          <p:nvPr/>
        </p:nvSpPr>
        <p:spPr>
          <a:xfrm>
            <a:off x="6629400" y="502920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A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Vishing</a:t>
            </a:r>
            <a:endParaRPr lang="en-US" sz="1100" dirty="0"/>
          </a:p>
        </p:txBody>
      </p:sp>
      <p:sp>
        <p:nvSpPr>
          <p:cNvPr id="32" name="Text 29"/>
          <p:cNvSpPr txBox="1"/>
          <p:nvPr/>
        </p:nvSpPr>
        <p:spPr>
          <a:xfrm>
            <a:off x="6629400" y="5413248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A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Smishing</a:t>
            </a:r>
            <a:endParaRPr lang="en-US" sz="1100" dirty="0"/>
          </a:p>
        </p:txBody>
      </p:sp>
      <p:sp>
        <p:nvSpPr>
          <p:cNvPr id="33" name="Text 30"/>
          <p:cNvSpPr txBox="1"/>
          <p:nvPr/>
        </p:nvSpPr>
        <p:spPr>
          <a:xfrm>
            <a:off x="6629400" y="5797296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A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Whaling</a:t>
            </a:r>
            <a:endParaRPr lang="en-US" sz="1100" dirty="0"/>
          </a:p>
        </p:txBody>
      </p:sp>
      <p:sp>
        <p:nvSpPr>
          <p:cNvPr id="34" name="Text 31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Phishing Awareness Training</a:t>
            </a:r>
            <a:endParaRPr lang="en-US" sz="900" dirty="0"/>
          </a:p>
        </p:txBody>
      </p:sp>
      <p:sp>
        <p:nvSpPr>
          <p:cNvPr id="35" name="Text 32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9144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Quiz — Answers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600200"/>
            <a:ext cx="2697480" cy="4023360"/>
          </a:xfrm>
          <a:prstGeom prst="roundRect">
            <a:avLst>
              <a:gd name="adj" fmla="val 3390"/>
            </a:avLst>
          </a:prstGeom>
          <a:solidFill>
            <a:srgbClr val="F7F7F5"/>
          </a:solidFill>
          <a:ln w="12700">
            <a:solidFill>
              <a:srgbClr val="E3E6EA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31520" y="1783080"/>
            <a:ext cx="2331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1508760" y="2148840"/>
            <a:ext cx="777240" cy="777240"/>
          </a:xfrm>
          <a:prstGeom prst="ellipse">
            <a:avLst/>
          </a:prstGeom>
          <a:solidFill>
            <a:srgbClr val="EAF6F3"/>
          </a:solidFill>
          <a:ln/>
        </p:spPr>
      </p:sp>
      <p:pic>
        <p:nvPicPr>
          <p:cNvPr id="6" name="Image 0" descr="icons/chec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95298" y="2335378"/>
            <a:ext cx="404165" cy="404165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548640" y="3063240"/>
            <a:ext cx="2697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A9D8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Answer: B</a:t>
            </a:r>
            <a:endParaRPr lang="en-US" sz="2000" dirty="0"/>
          </a:p>
        </p:txBody>
      </p:sp>
      <p:sp>
        <p:nvSpPr>
          <p:cNvPr id="8" name="Text 5"/>
          <p:cNvSpPr txBox="1"/>
          <p:nvPr/>
        </p:nvSpPr>
        <p:spPr>
          <a:xfrm>
            <a:off x="731520" y="3657600"/>
            <a:ext cx="233172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trust a link in the email itself — navigate to the real site independently.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3447288" y="1600200"/>
            <a:ext cx="2697480" cy="4023360"/>
          </a:xfrm>
          <a:prstGeom prst="roundRect">
            <a:avLst>
              <a:gd name="adj" fmla="val 3390"/>
            </a:avLst>
          </a:prstGeom>
          <a:solidFill>
            <a:srgbClr val="F7F7F5"/>
          </a:solidFill>
          <a:ln w="12700">
            <a:solidFill>
              <a:srgbClr val="E3E6EA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3630168" y="1783080"/>
            <a:ext cx="2331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4407408" y="2148840"/>
            <a:ext cx="777240" cy="777240"/>
          </a:xfrm>
          <a:prstGeom prst="ellipse">
            <a:avLst/>
          </a:prstGeom>
          <a:solidFill>
            <a:srgbClr val="EAF6F3"/>
          </a:solidFill>
          <a:ln/>
        </p:spPr>
      </p:sp>
      <p:pic>
        <p:nvPicPr>
          <p:cNvPr id="12" name="Image 1" descr="icons/chec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93946" y="2335378"/>
            <a:ext cx="404165" cy="404165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3447288" y="3063240"/>
            <a:ext cx="2697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A9D8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Answer: B</a:t>
            </a:r>
            <a:endParaRPr lang="en-US" sz="2000" dirty="0"/>
          </a:p>
        </p:txBody>
      </p:sp>
      <p:sp>
        <p:nvSpPr>
          <p:cNvPr id="14" name="Text 10"/>
          <p:cNvSpPr txBox="1"/>
          <p:nvPr/>
        </p:nvSpPr>
        <p:spPr>
          <a:xfrm>
            <a:off x="3630168" y="3657600"/>
            <a:ext cx="233172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Gift-card and wire-transfer 'urgent' requests are a classic executive-impersonation scam.</a:t>
            </a:r>
            <a:endParaRPr lang="en-US" sz="1150" dirty="0"/>
          </a:p>
        </p:txBody>
      </p:sp>
      <p:sp>
        <p:nvSpPr>
          <p:cNvPr id="15" name="Shape 11"/>
          <p:cNvSpPr/>
          <p:nvPr/>
        </p:nvSpPr>
        <p:spPr>
          <a:xfrm>
            <a:off x="6345936" y="1600200"/>
            <a:ext cx="2697480" cy="4023360"/>
          </a:xfrm>
          <a:prstGeom prst="roundRect">
            <a:avLst>
              <a:gd name="adj" fmla="val 3390"/>
            </a:avLst>
          </a:prstGeom>
          <a:solidFill>
            <a:srgbClr val="F7F7F5"/>
          </a:solidFill>
          <a:ln w="12700">
            <a:solidFill>
              <a:srgbClr val="E3E6EA"/>
            </a:solidFill>
            <a:prstDash val="solid"/>
          </a:ln>
        </p:spPr>
      </p:sp>
      <p:sp>
        <p:nvSpPr>
          <p:cNvPr id="16" name="Text 12"/>
          <p:cNvSpPr txBox="1"/>
          <p:nvPr/>
        </p:nvSpPr>
        <p:spPr>
          <a:xfrm>
            <a:off x="6528816" y="1783080"/>
            <a:ext cx="2331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</a:t>
            </a:r>
            <a:endParaRPr lang="en-US" sz="1200" dirty="0"/>
          </a:p>
        </p:txBody>
      </p:sp>
      <p:sp>
        <p:nvSpPr>
          <p:cNvPr id="17" name="Shape 13"/>
          <p:cNvSpPr/>
          <p:nvPr/>
        </p:nvSpPr>
        <p:spPr>
          <a:xfrm>
            <a:off x="7306056" y="2148840"/>
            <a:ext cx="777240" cy="777240"/>
          </a:xfrm>
          <a:prstGeom prst="ellipse">
            <a:avLst/>
          </a:prstGeom>
          <a:solidFill>
            <a:srgbClr val="EAF6F3"/>
          </a:solidFill>
          <a:ln/>
        </p:spPr>
      </p:sp>
      <p:pic>
        <p:nvPicPr>
          <p:cNvPr id="18" name="Image 2" descr="icons/chec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2594" y="2335378"/>
            <a:ext cx="404165" cy="404165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6345936" y="3063240"/>
            <a:ext cx="2697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A9D8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Answer: B</a:t>
            </a:r>
            <a:endParaRPr lang="en-US" sz="2000" dirty="0"/>
          </a:p>
        </p:txBody>
      </p:sp>
      <p:sp>
        <p:nvSpPr>
          <p:cNvPr id="20" name="Text 15"/>
          <p:cNvSpPr txBox="1"/>
          <p:nvPr/>
        </p:nvSpPr>
        <p:spPr>
          <a:xfrm>
            <a:off x="6528816" y="3657600"/>
            <a:ext cx="233172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mismatched or unusual domain is a strong sign of a spoofed website.</a:t>
            </a:r>
            <a:endParaRPr lang="en-US" sz="1150" dirty="0"/>
          </a:p>
        </p:txBody>
      </p:sp>
      <p:sp>
        <p:nvSpPr>
          <p:cNvPr id="21" name="Shape 16"/>
          <p:cNvSpPr/>
          <p:nvPr/>
        </p:nvSpPr>
        <p:spPr>
          <a:xfrm>
            <a:off x="9244584" y="1600200"/>
            <a:ext cx="2697480" cy="4023360"/>
          </a:xfrm>
          <a:prstGeom prst="roundRect">
            <a:avLst>
              <a:gd name="adj" fmla="val 3390"/>
            </a:avLst>
          </a:prstGeom>
          <a:solidFill>
            <a:srgbClr val="F7F7F5"/>
          </a:solidFill>
          <a:ln w="12700">
            <a:solidFill>
              <a:srgbClr val="E3E6EA"/>
            </a:solidFill>
            <a:prstDash val="solid"/>
          </a:ln>
        </p:spPr>
      </p:sp>
      <p:sp>
        <p:nvSpPr>
          <p:cNvPr id="22" name="Text 17"/>
          <p:cNvSpPr txBox="1"/>
          <p:nvPr/>
        </p:nvSpPr>
        <p:spPr>
          <a:xfrm>
            <a:off x="9427464" y="1783080"/>
            <a:ext cx="2331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Q4</a:t>
            </a:r>
            <a:endParaRPr lang="en-US" sz="1200" dirty="0"/>
          </a:p>
        </p:txBody>
      </p:sp>
      <p:sp>
        <p:nvSpPr>
          <p:cNvPr id="23" name="Shape 18"/>
          <p:cNvSpPr/>
          <p:nvPr/>
        </p:nvSpPr>
        <p:spPr>
          <a:xfrm>
            <a:off x="10204704" y="2148840"/>
            <a:ext cx="777240" cy="777240"/>
          </a:xfrm>
          <a:prstGeom prst="ellipse">
            <a:avLst/>
          </a:prstGeom>
          <a:solidFill>
            <a:srgbClr val="EAF6F3"/>
          </a:solidFill>
          <a:ln/>
        </p:spPr>
      </p:sp>
      <p:pic>
        <p:nvPicPr>
          <p:cNvPr id="24" name="Image 3" descr="icons/check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391242" y="2335378"/>
            <a:ext cx="404165" cy="404165"/>
          </a:xfrm>
          <a:prstGeom prst="rect">
            <a:avLst/>
          </a:prstGeom>
        </p:spPr>
      </p:pic>
      <p:sp>
        <p:nvSpPr>
          <p:cNvPr id="25" name="Text 19"/>
          <p:cNvSpPr txBox="1"/>
          <p:nvPr/>
        </p:nvSpPr>
        <p:spPr>
          <a:xfrm>
            <a:off x="9244584" y="3063240"/>
            <a:ext cx="2697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A9D8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Answer: B</a:t>
            </a:r>
            <a:endParaRPr lang="en-US" sz="2000" dirty="0"/>
          </a:p>
        </p:txBody>
      </p:sp>
      <p:sp>
        <p:nvSpPr>
          <p:cNvPr id="26" name="Text 20"/>
          <p:cNvSpPr txBox="1"/>
          <p:nvPr/>
        </p:nvSpPr>
        <p:spPr>
          <a:xfrm>
            <a:off x="9427464" y="3657600"/>
            <a:ext cx="233172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Smishing = phishing delivered via SMS text message.</a:t>
            </a:r>
            <a:endParaRPr lang="en-US" sz="1150" dirty="0"/>
          </a:p>
        </p:txBody>
      </p:sp>
      <p:sp>
        <p:nvSpPr>
          <p:cNvPr id="27" name="Text 21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Phishing Awareness Training</a:t>
            </a:r>
            <a:endParaRPr lang="en-US" sz="900" dirty="0"/>
          </a:p>
        </p:txBody>
      </p:sp>
      <p:sp>
        <p:nvSpPr>
          <p:cNvPr id="28" name="Text 22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B2A4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-1645920"/>
            <a:ext cx="4572000" cy="4572000"/>
          </a:xfrm>
          <a:prstGeom prst="ellipse">
            <a:avLst/>
          </a:prstGeom>
          <a:solidFill>
            <a:srgbClr val="3A506B">
              <a:alpha val="3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5413248" y="777240"/>
            <a:ext cx="1188720" cy="1188720"/>
          </a:xfrm>
          <a:prstGeom prst="ellipse">
            <a:avLst/>
          </a:prstGeom>
          <a:solidFill>
            <a:srgbClr val="24344A"/>
          </a:solidFill>
          <a:ln/>
        </p:spPr>
      </p:sp>
      <p:pic>
        <p:nvPicPr>
          <p:cNvPr id="4" name="Image 0" descr="icons/loc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98541" y="1062533"/>
            <a:ext cx="618134" cy="618134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731520" y="2148840"/>
            <a:ext cx="1072591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Stay Skeptical. Stay Secure.</a:t>
            </a:r>
            <a:endParaRPr lang="en-US" sz="3200" dirty="0"/>
          </a:p>
        </p:txBody>
      </p:sp>
      <p:sp>
        <p:nvSpPr>
          <p:cNvPr id="6" name="Text 3"/>
          <p:cNvSpPr txBox="1"/>
          <p:nvPr/>
        </p:nvSpPr>
        <p:spPr>
          <a:xfrm>
            <a:off x="731520" y="2926080"/>
            <a:ext cx="1072591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in doubt, don't click — verify through a trusted channel and report it.</a:t>
            </a:r>
            <a:endParaRPr lang="en-US" sz="1500" dirty="0"/>
          </a:p>
        </p:txBody>
      </p:sp>
      <p:sp>
        <p:nvSpPr>
          <p:cNvPr id="7" name="Text 4"/>
          <p:cNvSpPr txBox="1"/>
          <p:nvPr/>
        </p:nvSpPr>
        <p:spPr>
          <a:xfrm>
            <a:off x="1371600" y="4023360"/>
            <a:ext cx="9418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D7E1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 suspicious emails to your IT / Security team</a:t>
            </a:r>
            <a:endParaRPr lang="en-US" sz="1350" dirty="0"/>
          </a:p>
        </p:txBody>
      </p:sp>
      <p:sp>
        <p:nvSpPr>
          <p:cNvPr id="8" name="Text 5"/>
          <p:cNvSpPr txBox="1"/>
          <p:nvPr/>
        </p:nvSpPr>
        <p:spPr>
          <a:xfrm>
            <a:off x="1371600" y="4480560"/>
            <a:ext cx="9418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D7E1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 more: CISA.gov/phishing  ·  StaySafeOnline.org</a:t>
            </a:r>
            <a:endParaRPr lang="en-US" sz="1350" dirty="0"/>
          </a:p>
        </p:txBody>
      </p:sp>
      <p:sp>
        <p:nvSpPr>
          <p:cNvPr id="9" name="Text 6"/>
          <p:cNvSpPr txBox="1"/>
          <p:nvPr/>
        </p:nvSpPr>
        <p:spPr>
          <a:xfrm>
            <a:off x="1371600" y="4937760"/>
            <a:ext cx="9418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D7E1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Enable MFA on every account that supports it</a:t>
            </a:r>
            <a:endParaRPr lang="en-US" sz="1350" dirty="0"/>
          </a:p>
        </p:txBody>
      </p:sp>
      <p:sp>
        <p:nvSpPr>
          <p:cNvPr id="10" name="Text 7"/>
          <p:cNvSpPr txBox="1"/>
          <p:nvPr/>
        </p:nvSpPr>
        <p:spPr>
          <a:xfrm>
            <a:off x="731520" y="5852160"/>
            <a:ext cx="1072591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9FB3C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2026-09-03T09:21:35Z</dcterms:created>
  <dcterms:modified xsi:type="dcterms:W3CDTF">2026-09-03T09:21:35Z</dcterms:modified>
</cp:coreProperties>
</file>